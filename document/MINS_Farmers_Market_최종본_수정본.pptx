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4" r:id="rId30"/>
    <p:sldId id="295" r:id="rId31"/>
    <p:sldId id="284" r:id="rId32"/>
    <p:sldId id="285" r:id="rId33"/>
    <p:sldId id="286" r:id="rId34"/>
    <p:sldId id="293" r:id="rId35"/>
    <p:sldId id="288" r:id="rId36"/>
    <p:sldId id="289" r:id="rId3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FB4D3-D246-47BF-A075-7E7DF8EA06AF}" v="2" dt="2026-08-11T02:20:5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사무처 최민영 요한요셉" userId="b5a5267b-86d3-4340-b45c-23b29b4c11db" providerId="ADAL" clId="{35137D40-275D-4A98-BBE5-853B19FE09EA}"/>
    <pc:docChg chg="custSel addSld delSld modSld">
      <pc:chgData name="사무처 최민영 요한요셉" userId="b5a5267b-86d3-4340-b45c-23b29b4c11db" providerId="ADAL" clId="{35137D40-275D-4A98-BBE5-853B19FE09EA}" dt="2026-08-11T02:27:50.285" v="47"/>
      <pc:docMkLst>
        <pc:docMk/>
      </pc:docMkLst>
      <pc:sldChg chg="modSp mod">
        <pc:chgData name="사무처 최민영 요한요셉" userId="b5a5267b-86d3-4340-b45c-23b29b4c11db" providerId="ADAL" clId="{35137D40-275D-4A98-BBE5-853B19FE09EA}" dt="2026-08-11T02:18:57.720" v="26"/>
        <pc:sldMkLst>
          <pc:docMk/>
          <pc:sldMk cId="0" sldId="258"/>
        </pc:sldMkLst>
        <pc:spChg chg="mod">
          <ac:chgData name="사무처 최민영 요한요셉" userId="b5a5267b-86d3-4340-b45c-23b29b4c11db" providerId="ADAL" clId="{35137D40-275D-4A98-BBE5-853B19FE09EA}" dt="2026-08-11T02:18:57.720" v="2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사무처 최민영 요한요셉" userId="b5a5267b-86d3-4340-b45c-23b29b4c11db" providerId="ADAL" clId="{35137D40-275D-4A98-BBE5-853B19FE09EA}" dt="2026-08-11T02:20:57.476" v="27" actId="27636"/>
        <pc:sldMkLst>
          <pc:docMk/>
          <pc:sldMk cId="0" sldId="273"/>
        </pc:sldMkLst>
        <pc:spChg chg="mod">
          <ac:chgData name="사무처 최민영 요한요셉" userId="b5a5267b-86d3-4340-b45c-23b29b4c11db" providerId="ADAL" clId="{35137D40-275D-4A98-BBE5-853B19FE09EA}" dt="2026-08-11T02:20:57.476" v="27" actId="27636"/>
          <ac:spMkLst>
            <pc:docMk/>
            <pc:sldMk cId="0" sldId="273"/>
            <ac:spMk id="6" creationId="{00000000-0000-0000-0000-000000000000}"/>
          </ac:spMkLst>
        </pc:spChg>
      </pc:sldChg>
      <pc:sldChg chg="del">
        <pc:chgData name="사무처 최민영 요한요셉" userId="b5a5267b-86d3-4340-b45c-23b29b4c11db" providerId="ADAL" clId="{35137D40-275D-4A98-BBE5-853B19FE09EA}" dt="2026-08-11T02:24:44.594" v="29"/>
        <pc:sldMkLst>
          <pc:docMk/>
          <pc:sldMk cId="0" sldId="287"/>
        </pc:sldMkLst>
      </pc:sldChg>
      <pc:sldChg chg="modSp add del mod">
        <pc:chgData name="사무처 최민영 요한요셉" userId="b5a5267b-86d3-4340-b45c-23b29b4c11db" providerId="ADAL" clId="{35137D40-275D-4A98-BBE5-853B19FE09EA}" dt="2026-08-11T02:26:52.213" v="43"/>
        <pc:sldMkLst>
          <pc:docMk/>
          <pc:sldMk cId="3269274006" sldId="290"/>
        </pc:sldMkLst>
        <pc:spChg chg="mod">
          <ac:chgData name="사무처 최민영 요한요셉" userId="b5a5267b-86d3-4340-b45c-23b29b4c11db" providerId="ADAL" clId="{35137D40-275D-4A98-BBE5-853B19FE09EA}" dt="2026-08-11T02:25:08.058" v="30"/>
          <ac:spMkLst>
            <pc:docMk/>
            <pc:sldMk cId="3269274006" sldId="290"/>
            <ac:spMk id="9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58" v="31"/>
          <ac:spMkLst>
            <pc:docMk/>
            <pc:sldMk cId="3269274006" sldId="290"/>
            <ac:spMk id="10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59" v="32"/>
          <ac:spMkLst>
            <pc:docMk/>
            <pc:sldMk cId="3269274006" sldId="290"/>
            <ac:spMk id="11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59" v="33"/>
          <ac:spMkLst>
            <pc:docMk/>
            <pc:sldMk cId="3269274006" sldId="290"/>
            <ac:spMk id="12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59" v="34"/>
          <ac:spMkLst>
            <pc:docMk/>
            <pc:sldMk cId="3269274006" sldId="290"/>
            <ac:spMk id="13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59" v="35"/>
          <ac:spMkLst>
            <pc:docMk/>
            <pc:sldMk cId="3269274006" sldId="290"/>
            <ac:spMk id="14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36"/>
          <ac:spMkLst>
            <pc:docMk/>
            <pc:sldMk cId="3269274006" sldId="290"/>
            <ac:spMk id="15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37"/>
          <ac:spMkLst>
            <pc:docMk/>
            <pc:sldMk cId="3269274006" sldId="290"/>
            <ac:spMk id="16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38"/>
          <ac:spMkLst>
            <pc:docMk/>
            <pc:sldMk cId="3269274006" sldId="290"/>
            <ac:spMk id="17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39"/>
          <ac:spMkLst>
            <pc:docMk/>
            <pc:sldMk cId="3269274006" sldId="290"/>
            <ac:spMk id="18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40"/>
          <ac:spMkLst>
            <pc:docMk/>
            <pc:sldMk cId="3269274006" sldId="290"/>
            <ac:spMk id="19" creationId="{00000000-0000-0000-0000-000000000000}"/>
          </ac:spMkLst>
        </pc:spChg>
        <pc:spChg chg="mod">
          <ac:chgData name="사무처 최민영 요한요셉" userId="b5a5267b-86d3-4340-b45c-23b29b4c11db" providerId="ADAL" clId="{35137D40-275D-4A98-BBE5-853B19FE09EA}" dt="2026-08-11T02:25:08.060" v="41"/>
          <ac:spMkLst>
            <pc:docMk/>
            <pc:sldMk cId="3269274006" sldId="290"/>
            <ac:spMk id="20" creationId="{00000000-0000-0000-0000-000000000000}"/>
          </ac:spMkLst>
        </pc:spChg>
      </pc:sldChg>
      <pc:sldChg chg="add del">
        <pc:chgData name="사무처 최민영 요한요셉" userId="b5a5267b-86d3-4340-b45c-23b29b4c11db" providerId="ADAL" clId="{35137D40-275D-4A98-BBE5-853B19FE09EA}" dt="2026-08-11T02:27:18.028" v="45"/>
        <pc:sldMkLst>
          <pc:docMk/>
          <pc:sldMk cId="1261220558" sldId="291"/>
        </pc:sldMkLst>
      </pc:sldChg>
      <pc:sldChg chg="add del">
        <pc:chgData name="사무처 최민영 요한요셉" userId="b5a5267b-86d3-4340-b45c-23b29b4c11db" providerId="ADAL" clId="{35137D40-275D-4A98-BBE5-853B19FE09EA}" dt="2026-08-11T02:27:50.285" v="47"/>
        <pc:sldMkLst>
          <pc:docMk/>
          <pc:sldMk cId="2726582608" sldId="292"/>
        </pc:sldMkLst>
      </pc:sldChg>
      <pc:sldChg chg="add">
        <pc:chgData name="사무처 최민영 요한요셉" userId="b5a5267b-86d3-4340-b45c-23b29b4c11db" providerId="ADAL" clId="{35137D40-275D-4A98-BBE5-853B19FE09EA}" dt="2026-08-11T02:27:50.261" v="46"/>
        <pc:sldMkLst>
          <pc:docMk/>
          <pc:sldMk cId="2464040747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14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지역 소농 직거래 쇼핑몰. 배포 주소부터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개수가 아니라 돈과 재고가 걸린 지점을 어떻게 지켰는지를 중심으로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CRUD만으로는 만날 수 없는 문제가 전부 들어 있는 주제라서 골랐다.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8개 도메인. 비회원 조회부터 결제까지 배포 사이트에서 실제로 동작한다.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ID를 부여해 추적 가능하게 만들고, 우선순위로 일정 지연 시 잘라낼 순서까지 미리 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전체가 azure/setup.sh 한 파일로 재생성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 결정 파트로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9개 테이블. 스냅샷 컬럼 두 개가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스냅샷 컬럼 두 개(order_item.order_price, orders.delivery_address)와 product.version을 짚어준다. 상세 컬럼은 배포 문서의 ERD.md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정규화가 항상 정답은 아니다. 시간이 지나도 변하면 안 되는 값은 의도적으로 중복 저장한다.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주문 테이블을 결제 수단이 늘 때마다 넓히지 않기 위해 분리했다.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돈과 재고가 걸린 세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레이스 컨디션. 각 요청은 혼자서는 완벽히 정상이라 테스트로도 잘 안 잡힌다.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버전을 붙이고, 충돌하면 다시 시도한다. 3번 실패하면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한 번 틀렸던 것. 순서가 반대면 롤백된 트랜잭션을 재사용해 3번 다 실패한다.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한정판 티켓팅처럼 충돌이 확실한 도메인이면 반대 선택이 맞다.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 규칙을 enum 자신이 들고 있게 한다. 새 상태를 추가할 때 고칠 곳은 한 파일뿐.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그림이 곧 코드다.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 머신이 이중 복구를 구조적으로 차단한다. 별도 플래그가 필요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테스트하기 어렵다는 신호는 대개 설계가 덜 분리됐다는 신호.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 표준을 알면서도 제약에 맞춰 다른 선택을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 패턴은 리팩터링 중 뚫릴 수 있다. 메서드 레벨 검사는 경로가 바뀌어도 따라다닌다.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테스트, CI, Azure 배포.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통합 테스트로 짜면 느리고, 깨졌을 때 어디가 문제인지 모른다.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하나에 여러 역할이 섞여 있으면 실패 모드가 달라 한 세션이 놓친다. 역할별로 쪼갠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2026-08-08 실측. E2E는 로컬이 아니라 CI에서 검증한다.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로컬 커밋부터 Actions 트리거, 배포까지 하나의 흐름으로 보여준다. 218건의 커밋이 전부 이 경로를 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테스트를 돌리는 것이 아니라 배포를 막는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11F1-2AFB-8211-F83D-A57609D7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45E62-C393-D42E-5802-0A234685C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2BF81-244B-2D60-DACB-CFE66FC8C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심사관 어필 포인트 </a:t>
            </a:r>
            <a:r>
              <a:rPr lang="en-US" altLang="ko-KR"/>
              <a:t>— </a:t>
            </a:r>
            <a:r>
              <a:rPr lang="ko-KR" altLang="en-US"/>
              <a:t>발표 강조 포인트</a:t>
            </a:r>
            <a:r>
              <a:rPr lang="en-US" altLang="ko-KR"/>
              <a:t>]
TDD </a:t>
            </a:r>
            <a:r>
              <a:rPr lang="ko-KR" altLang="en-US"/>
              <a:t>개발 흐름 슬라이드에서 강조할 것</a:t>
            </a:r>
            <a:r>
              <a:rPr lang="en-US" altLang="ko-KR"/>
              <a:t>:
▶ feat: </a:t>
            </a:r>
            <a:r>
              <a:rPr lang="ko-KR" altLang="en-US"/>
              <a:t>없는 테스트 </a:t>
            </a:r>
            <a:r>
              <a:rPr lang="en-US" altLang="ko-KR"/>
              <a:t>= </a:t>
            </a:r>
            <a:r>
              <a:rPr lang="ko-KR" altLang="en-US"/>
              <a:t>미완성 기준
  </a:t>
            </a:r>
            <a:r>
              <a:rPr lang="en-US" altLang="ko-KR"/>
              <a:t>"</a:t>
            </a:r>
            <a:r>
              <a:rPr lang="ko-KR" altLang="en-US"/>
              <a:t>이 프로젝트에서 테스트 없는 </a:t>
            </a:r>
            <a:r>
              <a:rPr lang="en-US" altLang="ko-KR"/>
              <a:t>feat </a:t>
            </a:r>
            <a:r>
              <a:rPr lang="ko-KR" altLang="en-US"/>
              <a:t>커밋은 미완성으로 간주합니다</a:t>
            </a:r>
            <a:r>
              <a:rPr lang="en-US" altLang="ko-KR"/>
              <a:t>"
  → KDT </a:t>
            </a:r>
            <a:r>
              <a:rPr lang="ko-KR" altLang="en-US"/>
              <a:t>프로젝트 중 테스트를 배포 게이트로 강제한 사례는 드뭄 </a:t>
            </a:r>
            <a:r>
              <a:rPr lang="en-US" altLang="ko-KR"/>
              <a:t>(⭐⭐⭐)
▶ DEF </a:t>
            </a:r>
            <a:r>
              <a:rPr lang="ko-KR" altLang="en-US"/>
              <a:t>절차</a:t>
            </a:r>
            <a:r>
              <a:rPr lang="en-US" altLang="ko-KR"/>
              <a:t>: </a:t>
            </a:r>
            <a:r>
              <a:rPr lang="ko-KR" altLang="en-US"/>
              <a:t>재현 테스트 먼저
  </a:t>
            </a:r>
            <a:r>
              <a:rPr lang="en-US" altLang="ko-KR"/>
              <a:t>"</a:t>
            </a:r>
            <a:r>
              <a:rPr lang="ko-KR" altLang="en-US"/>
              <a:t>과거 </a:t>
            </a:r>
            <a:r>
              <a:rPr lang="en-US" altLang="ko-KR"/>
              <a:t>DEF 16</a:t>
            </a:r>
            <a:r>
              <a:rPr lang="ko-KR" altLang="en-US"/>
              <a:t>건 중 </a:t>
            </a:r>
            <a:r>
              <a:rPr lang="en-US" altLang="ko-KR"/>
              <a:t>8</a:t>
            </a:r>
            <a:r>
              <a:rPr lang="ko-KR" altLang="en-US"/>
              <a:t>건이 배포 후 발견 </a:t>
            </a:r>
            <a:r>
              <a:rPr lang="en-US" altLang="ko-KR"/>
              <a:t>— </a:t>
            </a:r>
            <a:r>
              <a:rPr lang="ko-KR" altLang="en-US"/>
              <a:t>실패 지점에 자동 검증이 없어서였다</a:t>
            </a:r>
            <a:r>
              <a:rPr lang="en-US" altLang="ko-KR"/>
              <a:t>"
  → </a:t>
            </a:r>
            <a:r>
              <a:rPr lang="ko-KR" altLang="en-US"/>
              <a:t>단순 버그 수정이 아니라 재발 방지 절차를 갖춤 </a:t>
            </a:r>
            <a:r>
              <a:rPr lang="en-US" altLang="ko-KR"/>
              <a:t>(⭐⭐⭐⭐)
▶ CI</a:t>
            </a:r>
            <a:r>
              <a:rPr lang="ko-KR" altLang="en-US"/>
              <a:t>가 배포를 막는 게이트
  </a:t>
            </a:r>
            <a:r>
              <a:rPr lang="en-US" altLang="ko-KR"/>
              <a:t>"</a:t>
            </a:r>
            <a:r>
              <a:rPr lang="ko-KR" altLang="en-US"/>
              <a:t>테스트 통과 </a:t>
            </a:r>
            <a:r>
              <a:rPr lang="en-US" altLang="ko-KR"/>
              <a:t>= </a:t>
            </a:r>
            <a:r>
              <a:rPr lang="ko-KR" altLang="en-US"/>
              <a:t>결함 종결</a:t>
            </a:r>
            <a:r>
              <a:rPr lang="en-US" altLang="ko-KR"/>
              <a:t>" — </a:t>
            </a:r>
            <a:r>
              <a:rPr lang="ko-KR" altLang="en-US"/>
              <a:t>배포 후 재검증이 불필요한 구조
  → 실무 수준의 배포 파이프라인 설계 </a:t>
            </a:r>
            <a:r>
              <a:rPr lang="en-US" altLang="ko-KR"/>
              <a:t>(⭐⭐⭐⭐)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D72BE-DF80-5F71-77FC-D02DDE26C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5E65-C927-7731-09EF-AC50E57B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908B9-AD90-9E18-AE8F-99C4DEDA4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9B3D2-CA39-6164-5AB2-1C4AFE4AA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심사관 어필 포인트 </a:t>
            </a:r>
            <a:r>
              <a:rPr lang="en-US" altLang="ko-KR"/>
              <a:t>— </a:t>
            </a:r>
            <a:r>
              <a:rPr lang="ko-KR" altLang="en-US"/>
              <a:t>각 테스트의 </a:t>
            </a:r>
            <a:r>
              <a:rPr lang="en-US" altLang="ko-KR"/>
              <a:t>"</a:t>
            </a:r>
            <a:r>
              <a:rPr lang="ko-KR" altLang="en-US"/>
              <a:t>왜 대단한가</a:t>
            </a:r>
            <a:r>
              <a:rPr lang="en-US" altLang="ko-KR"/>
              <a:t>"]
① OrderConcurrencyTest  ⭐⭐⭐⭐⭐ </a:t>
            </a:r>
            <a:r>
              <a:rPr lang="ko-KR" altLang="en-US"/>
              <a:t>강력 어필
  </a:t>
            </a:r>
            <a:r>
              <a:rPr lang="en-US" altLang="ko-KR"/>
              <a:t>"</a:t>
            </a:r>
            <a:r>
              <a:rPr lang="ko-KR" altLang="en-US"/>
              <a:t>멀티스레드 재고 </a:t>
            </a:r>
            <a:r>
              <a:rPr lang="en-US" altLang="ko-KR"/>
              <a:t>oversell</a:t>
            </a:r>
            <a:r>
              <a:rPr lang="ko-KR" altLang="en-US"/>
              <a:t>은 실서비스에서 돈이 새는 버그</a:t>
            </a:r>
            <a:r>
              <a:rPr lang="en-US" altLang="ko-KR"/>
              <a:t>"
  </a:t>
            </a:r>
            <a:r>
              <a:rPr lang="ko-KR" altLang="en-US"/>
              <a:t>부트캠프 개인 프로젝트에서 동시성 테스트를 작성한 사례는 극히 드뭄
② </a:t>
            </a:r>
            <a:r>
              <a:rPr lang="en-US" altLang="ko-KR"/>
              <a:t>SessionCookieSecurityTest  ⭐⭐⭐⭐⭐ </a:t>
            </a:r>
            <a:r>
              <a:rPr lang="ko-KR" altLang="en-US"/>
              <a:t>강력 어필
  </a:t>
            </a:r>
            <a:r>
              <a:rPr lang="en-US" altLang="ko-KR"/>
              <a:t>"</a:t>
            </a:r>
            <a:r>
              <a:rPr lang="ko-KR" altLang="en-US"/>
              <a:t>설정했다 ≠ 동작한다</a:t>
            </a:r>
            <a:r>
              <a:rPr lang="en-US" altLang="ko-KR"/>
              <a:t>" — </a:t>
            </a:r>
            <a:r>
              <a:rPr lang="ko-KR" altLang="en-US"/>
              <a:t>실제 </a:t>
            </a:r>
            <a:r>
              <a:rPr lang="en-US" altLang="ko-KR"/>
              <a:t>HTTP </a:t>
            </a:r>
            <a:r>
              <a:rPr lang="ko-KR" altLang="en-US"/>
              <a:t>헤더를 파싱해 </a:t>
            </a:r>
            <a:r>
              <a:rPr lang="en-US" altLang="ko-KR"/>
              <a:t>SameSite=Lax</a:t>
            </a:r>
            <a:r>
              <a:rPr lang="ko-KR" altLang="en-US"/>
              <a:t>를 증명
  </a:t>
            </a:r>
            <a:r>
              <a:rPr lang="en-US" altLang="ko-KR"/>
              <a:t>CSRF/</a:t>
            </a:r>
            <a:r>
              <a:rPr lang="ko-KR" altLang="en-US"/>
              <a:t>세션 탈취 방어가 설정 파일이 아닌 테스트로 보증됨
③ </a:t>
            </a:r>
            <a:r>
              <a:rPr lang="en-US" altLang="ko-KR"/>
              <a:t>GlobalExceptionHandlerTest  ⭐⭐⭐⭐
  DB </a:t>
            </a:r>
            <a:r>
              <a:rPr lang="ko-KR" altLang="en-US"/>
              <a:t>접속 정보가 </a:t>
            </a:r>
            <a:r>
              <a:rPr lang="en-US" altLang="ko-KR"/>
              <a:t>500 </a:t>
            </a:r>
            <a:r>
              <a:rPr lang="ko-KR" altLang="en-US"/>
              <a:t>에러에 새지 않음 </a:t>
            </a:r>
            <a:r>
              <a:rPr lang="en-US" altLang="ko-KR"/>
              <a:t>— OWASP A05 </a:t>
            </a:r>
            <a:r>
              <a:rPr lang="ko-KR" altLang="en-US"/>
              <a:t>정보 노출 방어
④ </a:t>
            </a:r>
            <a:r>
              <a:rPr lang="en-US" altLang="ko-KR"/>
              <a:t>PrivateRoute.test.jsx  ⭐⭐⭐⭐
  "</a:t>
            </a:r>
            <a:r>
              <a:rPr lang="ko-KR" altLang="en-US"/>
              <a:t>리다이렉트 확인만으론 부족하다</a:t>
            </a:r>
            <a:r>
              <a:rPr lang="en-US" altLang="ko-KR"/>
              <a:t>. </a:t>
            </a:r>
            <a:r>
              <a:rPr lang="ko-KR" altLang="en-US"/>
              <a:t>보호 콘텐츠가 </a:t>
            </a:r>
            <a:r>
              <a:rPr lang="en-US" altLang="ko-KR"/>
              <a:t>DOM</a:t>
            </a:r>
            <a:r>
              <a:rPr lang="ko-KR" altLang="en-US"/>
              <a:t>에 </a:t>
            </a:r>
            <a:r>
              <a:rPr lang="en-US" altLang="ko-KR"/>
              <a:t>0</a:t>
            </a:r>
            <a:r>
              <a:rPr lang="ko-KR" altLang="en-US"/>
              <a:t>자도 새지 않음을 못박는다</a:t>
            </a:r>
            <a:r>
              <a:rPr lang="en-US" altLang="ko-KR"/>
              <a:t>"
  URL </a:t>
            </a:r>
            <a:r>
              <a:rPr lang="ko-KR" altLang="en-US"/>
              <a:t>이동만 보는 테스트와 달리</a:t>
            </a:r>
            <a:r>
              <a:rPr lang="en-US" altLang="ko-KR"/>
              <a:t>, </a:t>
            </a:r>
            <a:r>
              <a:rPr lang="ko-KR" altLang="en-US"/>
              <a:t>실제 </a:t>
            </a:r>
            <a:r>
              <a:rPr lang="en-US" altLang="ko-KR"/>
              <a:t>DOM </a:t>
            </a:r>
            <a:r>
              <a:rPr lang="ko-KR" altLang="en-US"/>
              <a:t>레벨 인가를 증명
⑤ </a:t>
            </a:r>
            <a:r>
              <a:rPr lang="en-US" altLang="ko-KR"/>
              <a:t>pagination.test.js  ⭐⭐⭐
  </a:t>
            </a:r>
            <a:r>
              <a:rPr lang="ko-KR" altLang="en-US"/>
              <a:t>구현 전 테스트 작성</a:t>
            </a:r>
            <a:r>
              <a:rPr lang="en-US" altLang="ko-KR"/>
              <a:t>(TDD) + DEF-9 off-by-one </a:t>
            </a:r>
            <a:r>
              <a:rPr lang="ko-KR" altLang="en-US"/>
              <a:t>재현 </a:t>
            </a:r>
            <a:r>
              <a:rPr lang="en-US" altLang="ko-KR"/>
              <a:t>— TDD </a:t>
            </a:r>
            <a:r>
              <a:rPr lang="ko-KR" altLang="en-US"/>
              <a:t>교과서적 사례
</a:t>
            </a:r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</a:t>
            </a:r>
            <a:r>
              <a:rPr lang="ko-KR" altLang="en-US"/>
              <a:t>테스트 총계</a:t>
            </a:r>
            <a:r>
              <a:rPr lang="en-US" altLang="ko-KR"/>
              <a:t>: 402</a:t>
            </a:r>
            <a:r>
              <a:rPr lang="ko-KR" altLang="en-US"/>
              <a:t>개 </a:t>
            </a:r>
            <a:r>
              <a:rPr lang="en-US" altLang="ko-KR"/>
              <a:t>(2026.08.08 </a:t>
            </a:r>
            <a:r>
              <a:rPr lang="ko-KR" altLang="en-US"/>
              <a:t>실측</a:t>
            </a:r>
            <a:r>
              <a:rPr lang="en-US" altLang="ko-KR"/>
              <a:t>) — </a:t>
            </a:r>
            <a:r>
              <a:rPr lang="ko-KR" altLang="en-US"/>
              <a:t>단순 수량보다 위 질적 차별화 포인트를 강조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C68F-36DD-674F-D248-D7DF1BC52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273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포털 클릭으로 만들면 git에 아무것도 안 남는다. 과제 원문의 AWS를 Azure로 대체한 사유도 여기서 말한다.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커버리지는 코드를 얼마나 실행했나이지, 내 가정이 맞나가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Flyway가 왜 필요한지를 문서가 아니라 장애로 배웠다.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남은 것들. 우선순위 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목록보다 오래 남을 것 세 가지.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 데모는 배포 사이트에서. 데모 계정은 시드로 자동 생성된다.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sdev.work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ngwdjcatholic-my.sharepoint.com/:v:/g/personal/chlalsxjf_djcatholic_org/IQASgDwNa4X3RZaq4vOyga1hAXM8irWbq0_lmdwr1zbamsc?e=CTn4bn" TargetMode="External"/><Relationship Id="rId3" Type="http://schemas.openxmlformats.org/officeDocument/2006/relationships/hyperlink" Target="https://ngwdjcatholic-my.sharepoint.com/:v:/g/personal/chlalsxjf_djcatholic_org/IQC_B8Pu5GPYQ4rtZVEFk-63AfyhIe9pbDPSh8nCt_Llnus?e=LXnGRY" TargetMode="External"/><Relationship Id="rId7" Type="http://schemas.openxmlformats.org/officeDocument/2006/relationships/hyperlink" Target="https://ngwdjcatholic-my.sharepoint.com/:v:/g/personal/chlalsxjf_djcatholic_org/IQA1pNy1sG-7TokTvVB4Bcp4AWLaB0X2B__w_UpWmYkYCME?e=nXoZk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gwdjcatholic-my.sharepoint.com/:v:/g/personal/chlalsxjf_djcatholic_org/IQA9AFLcSoC1S7emTGi74RbPAUT1bNrfQDkqCGo10D-Pim0?e=30ATab" TargetMode="External"/><Relationship Id="rId11" Type="http://schemas.openxmlformats.org/officeDocument/2006/relationships/hyperlink" Target="https://ngwdjcatholic-my.sharepoint.com/:v:/g/personal/chlalsxjf_djcatholic_org/IQCWcGoa6gw3Q7hwSUiqpNhuAf_aj6VA-QILyHTtdOTpbGU?e=w9S2se" TargetMode="External"/><Relationship Id="rId5" Type="http://schemas.openxmlformats.org/officeDocument/2006/relationships/hyperlink" Target="https://ngwdjcatholic-my.sharepoint.com/:v:/g/personal/chlalsxjf_djcatholic_org/IQBGpA3I4Q3LSIBnxBZy_SbPASVmBz0SSLRoLuCBOOxcLU4?e=MKziQh" TargetMode="External"/><Relationship Id="rId10" Type="http://schemas.openxmlformats.org/officeDocument/2006/relationships/hyperlink" Target="https://ngwdjcatholic-my.sharepoint.com/:v:/g/personal/chlalsxjf_djcatholic_org/IQDrHEyPLiBiSImE13dDrLrEAfyrTnmVRBAw_U1HrlWEFdM?e=qcPDYN" TargetMode="External"/><Relationship Id="rId4" Type="http://schemas.openxmlformats.org/officeDocument/2006/relationships/hyperlink" Target="https://www.iorad.com/player/2755324/MINS-Farmers-Market------------?lang=ko" TargetMode="External"/><Relationship Id="rId9" Type="http://schemas.openxmlformats.org/officeDocument/2006/relationships/hyperlink" Target="https://ngwdjcatholic-my.sharepoint.com/:v:/g/personal/chlalsxjf_djcatholic_org/IQDHU1OSfTJqS4gIYd5vpT2SATAb3YWeb1kzQLAbL9RJB4A?e=tuMWDW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KDT 풀스택 · 개인 프로젝트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751779"/>
            <a:ext cx="18021300" cy="1320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13"/>
              </a:lnSpc>
              <a:buNone/>
            </a:pPr>
            <a:r>
              <a:rPr lang="en-US" sz="9900" kern="0" spc="-198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MINS Farmers Market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952500" y="5377101"/>
            <a:ext cx="1802130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6D6C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대전·충남 지역 소농 직거래 쇼핑몰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" y="850392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8892540"/>
            <a:ext cx="4124337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최민영 · 2026.07.11 — 08.08</a:t>
            </a:r>
            <a:endParaRPr lang="en-US" sz="24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4226540" y="8930640"/>
            <a:ext cx="341985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u="sng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www.minsdev.works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개요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589972"/>
            <a:ext cx="1569720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39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중간 유통 없이, 소농이 수확한 농산물을 직접 판매하는 쇼핑몰. 회원부터 결제·리뷰까지 쇼핑몰의 전체 도메인을 직접 설계하고 구현했습니다.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6428423"/>
            <a:ext cx="15240000" cy="187833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6436043"/>
            <a:ext cx="3799046" cy="18630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64920" y="6778943"/>
            <a:ext cx="35083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231"/>
              </a:lnSpc>
              <a:buNone/>
            </a:pPr>
            <a:r>
              <a:rPr lang="en-US" sz="5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264920" y="7598093"/>
            <a:ext cx="35083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768691" y="6436043"/>
            <a:ext cx="3799046" cy="18630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73491" y="6778943"/>
            <a:ext cx="35083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231"/>
              </a:lnSpc>
              <a:buNone/>
            </a:pPr>
            <a:r>
              <a:rPr lang="en-US" sz="5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073491" y="7598093"/>
            <a:ext cx="35083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577263" y="6436043"/>
            <a:ext cx="3799046" cy="18630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882063" y="6778943"/>
            <a:ext cx="35083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231"/>
              </a:lnSpc>
              <a:buNone/>
            </a:pPr>
            <a:r>
              <a:rPr lang="en-US" sz="5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882063" y="7598093"/>
            <a:ext cx="35083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385834" y="6436043"/>
            <a:ext cx="3799046" cy="18630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690634" y="6778943"/>
            <a:ext cx="35083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231"/>
              </a:lnSpc>
              <a:buNone/>
            </a:pPr>
            <a:r>
              <a:rPr lang="en-US" sz="5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218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2690634" y="7598093"/>
            <a:ext cx="350839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17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주제 선정 배경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437572"/>
            <a:ext cx="6588086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2818447"/>
            <a:ext cx="67857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kern="0" spc="273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배우고 싶었던 것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8112086" y="3437572"/>
            <a:ext cx="9223415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112086" y="2818447"/>
            <a:ext cx="95001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kern="0" spc="273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쇼핑몰에서 자연스럽게 나오는 문제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2500" y="4426268"/>
            <a:ext cx="658808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2500" y="3692843"/>
            <a:ext cx="67857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설계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112086" y="4426268"/>
            <a:ext cx="922341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112086" y="3692843"/>
            <a:ext cx="95001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회원·주문·상품·결제가 얽힌 관계를 테이블로 옮기기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5414963"/>
            <a:ext cx="658808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2500" y="4681537"/>
            <a:ext cx="67857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트랜잭션·동시성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112086" y="5414963"/>
            <a:ext cx="922341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112086" y="4681537"/>
            <a:ext cx="95001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1개에 주문 2건이 동시에 들어오면?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2500" y="6403657"/>
            <a:ext cx="658808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2500" y="5670232"/>
            <a:ext cx="67857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관리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8112086" y="6403657"/>
            <a:ext cx="922341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112086" y="5670232"/>
            <a:ext cx="95001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전 주문이 배송 완료로 건너뛰면 안 됨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52500" y="7392353"/>
            <a:ext cx="658808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2500" y="6658928"/>
            <a:ext cx="67857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연동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8112086" y="7392353"/>
            <a:ext cx="922341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112086" y="6658928"/>
            <a:ext cx="95001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PG사(토스페이먼츠)와 통신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52500" y="7647623"/>
            <a:ext cx="67857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8112086" y="7647623"/>
            <a:ext cx="95001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API를 관리자와 일반 회원이 다르게 봐야 함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52500" y="8800148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CRUD만으로는 만날 수 없는 문제가 전부 들어 있는 주제입니다.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 err="1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구현</a:t>
            </a: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4800" dirty="0" err="1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범위</a:t>
            </a: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– </a:t>
            </a:r>
            <a:r>
              <a:rPr lang="ko-KR" alt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영상시연 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2905125"/>
            <a:ext cx="16383000" cy="6619875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0120" y="291274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03020" y="329374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3"/>
              </a:rPr>
              <a:t>회원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03020" y="401002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· 로그인 · 정보 수정 · 탈퇴 · 권한 분리(USER/ADMIN</a:t>
            </a: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/>
              </a:rPr>
              <a:t>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54441" y="291274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97341" y="329374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5"/>
              </a:rPr>
              <a:t>상품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397341" y="401002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· 조회 · 수정 · 삭제 · 이미지 업로드 · 태그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8763" y="291274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491663" y="329374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6"/>
              </a:rPr>
              <a:t>검색·추천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491663" y="401002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검색 · 태그 필터 · 별점 필터 · 베스트 · 연관 추천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243084" y="291274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585984" y="329374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7"/>
              </a:rPr>
              <a:t>장바구니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585984" y="4010025"/>
            <a:ext cx="373889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담기 · 수량 변경 · 삭제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60120" y="621982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03020" y="660082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8"/>
              </a:rPr>
              <a:t>주문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03020" y="731710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생성 · 내역 조회 · 상세 조회 · 배송지 스냅샷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54441" y="621982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97341" y="660082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9"/>
              </a:rPr>
              <a:t>결제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5397341" y="731710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토스페이먼츠 카드 결제 · 가상계좌 발급 · 입금 확인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8763" y="621982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491663" y="660082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10"/>
              </a:rPr>
              <a:t>관리자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9491663" y="731710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CRUD · 전체 주문 조회 · 상태 필터 · 상태 변경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3243084" y="6219825"/>
            <a:ext cx="4084796" cy="329755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3585984" y="6600825"/>
            <a:ext cx="373889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  <a:hlinkClick r:id="rId11"/>
              </a:rPr>
              <a:t>리뷰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3585984" y="7317105"/>
            <a:ext cx="350096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· 수정 · 삭제 · 별점 평균 집계 · 키워드 자동 추출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기능 명세 — ID를 부여해 추적 가능하게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883819"/>
            <a:ext cx="1693307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3449479"/>
            <a:ext cx="176950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26807" y="3883819"/>
            <a:ext cx="3386614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026807" y="3449479"/>
            <a:ext cx="348821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94421" y="3883819"/>
            <a:ext cx="812804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94421" y="3449479"/>
            <a:ext cx="837188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303460" y="3883819"/>
            <a:ext cx="203204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03460" y="3449479"/>
            <a:ext cx="21082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우선순위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415314"/>
            <a:ext cx="1693307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2500" y="3986689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M-1~3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3026807" y="4415314"/>
            <a:ext cx="3386614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026807" y="3986689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· 로그인 · 권한 분리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794421" y="4415314"/>
            <a:ext cx="8128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94421" y="3986689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BCrypt 해시 · USER/ADMIN 역할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5303460" y="4415314"/>
            <a:ext cx="2032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5303460" y="3986689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P0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52500" y="4946809"/>
            <a:ext cx="1693307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2500" y="4518184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P-1~4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026807" y="4946809"/>
            <a:ext cx="3386614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026807" y="4518184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조회 · CRUD · 검색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794421" y="4946809"/>
            <a:ext cx="8128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94421" y="4518184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페이징 목록 · 관리자 CRUD · 키워드 검색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5303460" y="4946809"/>
            <a:ext cx="2032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5303460" y="4518184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P0 / P1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52500" y="5478304"/>
            <a:ext cx="1693307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2500" y="5049679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O-1~6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3026807" y="5478304"/>
            <a:ext cx="3386614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026807" y="5049679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장바구니 · 주문 · 결제 · 재고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6794421" y="5478304"/>
            <a:ext cx="8128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94421" y="5049679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스냅샷 · 상태 흐름 · 낙관적 락 동시성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5303460" y="5478304"/>
            <a:ext cx="2032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5303460" y="5049679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P0 / P1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952500" y="6009799"/>
            <a:ext cx="1693307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52500" y="5581174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A-1~3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3026807" y="6009799"/>
            <a:ext cx="3386614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026807" y="5581174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주문 · 재고 관리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6794421" y="6009799"/>
            <a:ext cx="8128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794421" y="5581174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필터 · 상태 변경 · 재고 조정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5303460" y="6009799"/>
            <a:ext cx="2032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5303460" y="5581174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952500" y="6541294"/>
            <a:ext cx="1693307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52500" y="6112669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R-1~6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3026807" y="6541294"/>
            <a:ext cx="3386614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026807" y="6112669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· 별점 · 추천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6794421" y="6541294"/>
            <a:ext cx="8128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794421" y="6112669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별점 · 별점순 정렬 · 태그 필터 · 키워드 추천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15303460" y="6541294"/>
            <a:ext cx="203204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5303460" y="6112669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 / P2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952500" y="6644164"/>
            <a:ext cx="1769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7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D-1~2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3026807" y="6644164"/>
            <a:ext cx="348821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6794421" y="6644164"/>
            <a:ext cx="837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전환 · Azure 배포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5303460" y="6644164"/>
            <a:ext cx="21082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22"/>
              </a:lnSpc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952500" y="7320439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952500" y="7579519"/>
            <a:ext cx="72644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P0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없으면 과제 미달 · </a:t>
            </a: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요구사항 · </a:t>
            </a:r>
            <a:r>
              <a:rPr lang="en-US" sz="18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여유 시 확장</a:t>
            </a:r>
            <a:endParaRPr lang="en-US" sz="1875" dirty="0"/>
          </a:p>
        </p:txBody>
      </p:sp>
      <p:sp>
        <p:nvSpPr>
          <p:cNvPr id="59" name="Text 57"/>
          <p:cNvSpPr/>
          <p:nvPr/>
        </p:nvSpPr>
        <p:spPr>
          <a:xfrm>
            <a:off x="8089940" y="7556659"/>
            <a:ext cx="952292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2025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일정 지연 시 잘라낼 순서도 미리 정해뒀습니다 — R-6(키워드 추천 단순화) → P-4(검색 생략) → O-3(모의 결제 단순화, 최후의 수단). 실제로는 하나도 자르지 않고 전부 구현했습니다.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구성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2532221"/>
            <a:ext cx="4712613" cy="1934528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6820" y="2825591"/>
            <a:ext cx="45803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React 18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26820" y="3435191"/>
            <a:ext cx="428889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· React Router · Axios 자체 CSS + Vapor(관리자)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847993" y="3294697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36563" y="3694747"/>
            <a:ext cx="57150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79513" y="2532221"/>
            <a:ext cx="5128975" cy="1934528"/>
          </a:xfrm>
          <a:prstGeom prst="rect">
            <a:avLst/>
          </a:prstGeom>
          <a:solidFill>
            <a:srgbClr val="EDEADB"/>
          </a:solidFill>
          <a:ln w="7620">
            <a:solidFill>
              <a:srgbClr val="757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3833" y="2825591"/>
            <a:ext cx="503836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Spring Boot 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53833" y="3435191"/>
            <a:ext cx="471774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 · Spring Data JPA Spring Security(세션 인증)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959948" y="3294697"/>
            <a:ext cx="4876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79938" y="3694747"/>
            <a:ext cx="57150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2622888" y="2532221"/>
            <a:ext cx="4712613" cy="1934528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897207" y="2825591"/>
            <a:ext cx="45803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PostgreSQL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897207" y="3435191"/>
            <a:ext cx="428889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Flexible Server 테스트는 H2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358890" y="4695349"/>
            <a:ext cx="5335905" cy="1306830"/>
          </a:xfrm>
          <a:prstGeom prst="rect">
            <a:avLst/>
          </a:prstGeom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14160" y="4931569"/>
            <a:ext cx="530790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토스페이먼츠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6614160" y="5423059"/>
            <a:ext cx="53079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결제 · 가상계좌(폴링)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999595" y="4695349"/>
            <a:ext cx="5335905" cy="1306830"/>
          </a:xfrm>
          <a:prstGeom prst="rect">
            <a:avLst/>
          </a:prstGeom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254865" y="4931569"/>
            <a:ext cx="530790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Blob Storage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254865" y="5423059"/>
            <a:ext cx="53079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이미지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52500" y="6230779"/>
            <a:ext cx="16383000" cy="2386965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60120" y="6238399"/>
            <a:ext cx="4084796" cy="237172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88720" y="6486049"/>
            <a:ext cx="39903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6886099"/>
            <a:ext cx="3736424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Azure Container Apps · Container Registry · PostgreSQL Flexible Server · Blob Storage · DNS 존 + 관리형 인증서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054441" y="6238399"/>
            <a:ext cx="4084796" cy="237172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83041" y="6486049"/>
            <a:ext cx="39903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 / CD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83041" y="6886099"/>
            <a:ext cx="373642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4 job — backend · frontend · e2e · deploy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148763" y="6238399"/>
            <a:ext cx="4084796" cy="237172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377363" y="6486049"/>
            <a:ext cx="39903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77363" y="6886099"/>
            <a:ext cx="373642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JUnit 5 · Mockito · Vitest · Testing Library · Playwright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3243084" y="6238399"/>
            <a:ext cx="4084796" cy="2371725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471684" y="6486049"/>
            <a:ext cx="39903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71684" y="6886099"/>
            <a:ext cx="373642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Spotless(Google Java Format) · Prettier · JaCoCo 게이트 60%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952500" y="8846344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52500" y="9082564"/>
            <a:ext cx="1687449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전부 Azure Container Apps 위에서 동작하며, </a:t>
            </a: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azure/setup.sh </a:t>
            </a:r>
            <a:r>
              <a:rPr lang="en-US" sz="24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파일로 재생성됩니다.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20715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758"/>
              </a:lnSpc>
              <a:buNone/>
            </a:pPr>
            <a:r>
              <a:rPr lang="en-US" sz="90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7092315"/>
            <a:ext cx="1802130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7200" dirty="0">
                <a:solidFill>
                  <a:srgbClr val="FFFEF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 모델과 설계 결정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52500" y="8555355"/>
            <a:ext cx="16383000" cy="9525"/>
          </a:xfrm>
          <a:prstGeom prst="rect">
            <a:avLst/>
          </a:prstGeom>
          <a:solidFill>
            <a:srgbClr val="5A5A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886968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C7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썼나보다, 왜 그걸 골랐나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설계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 모델 — 9개 테이블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106579"/>
            <a:ext cx="4376023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2592229"/>
            <a:ext cx="45073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61923" y="3106579"/>
            <a:ext cx="6564035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61923" y="2592229"/>
            <a:ext cx="67609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959358" y="3106579"/>
            <a:ext cx="4376142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959358" y="2592229"/>
            <a:ext cx="45074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814286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2500" y="3257074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5861923" y="3814286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61923" y="3257074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 (일반 / 관리자)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2959358" y="3814286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959358" y="3257074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행위의 주체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52500" y="4521994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2500" y="3964781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5861923" y="4521994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61923" y="3964781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저장된 배송지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12959358" y="4521994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959358" y="3964781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 1:N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52500" y="5229701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52500" y="4672489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5861923" y="5229701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861923" y="4672489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· 재고 · 낙관적 락 version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12959358" y="5229701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959358" y="4672489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거래의 대상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52500" y="5937409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2500" y="5380197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product_tag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861923" y="5937409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861923" y="5380197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태그 · 추출 키워드</a:t>
            </a:r>
            <a:endParaRPr lang="en-US" sz="2175" dirty="0"/>
          </a:p>
        </p:txBody>
      </p:sp>
      <p:sp>
        <p:nvSpPr>
          <p:cNvPr id="33" name="Shape 31"/>
          <p:cNvSpPr/>
          <p:nvPr/>
        </p:nvSpPr>
        <p:spPr>
          <a:xfrm>
            <a:off x="12959358" y="5937409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959358" y="5380197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1:N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952500" y="6645117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52500" y="6087904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cart_item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5861923" y="6645117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61923" y="6087904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장바구니 항목</a:t>
            </a:r>
            <a:endParaRPr lang="en-US" sz="2175" dirty="0"/>
          </a:p>
        </p:txBody>
      </p:sp>
      <p:sp>
        <p:nvSpPr>
          <p:cNvPr id="39" name="Shape 37"/>
          <p:cNvSpPr/>
          <p:nvPr/>
        </p:nvSpPr>
        <p:spPr>
          <a:xfrm>
            <a:off x="12959358" y="6645117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959358" y="6087904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 · product 1:N</a:t>
            </a:r>
            <a:endParaRPr lang="en-US" sz="2175" dirty="0"/>
          </a:p>
        </p:txBody>
      </p:sp>
      <p:sp>
        <p:nvSpPr>
          <p:cNvPr id="41" name="Shape 39"/>
          <p:cNvSpPr/>
          <p:nvPr/>
        </p:nvSpPr>
        <p:spPr>
          <a:xfrm>
            <a:off x="952500" y="7352824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52500" y="6795611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5861923" y="7352824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861923" y="6795611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· 상태 흐름 · 배송지 스냅샷</a:t>
            </a:r>
            <a:endParaRPr lang="en-US" sz="2175" dirty="0"/>
          </a:p>
        </p:txBody>
      </p:sp>
      <p:sp>
        <p:nvSpPr>
          <p:cNvPr id="45" name="Shape 43"/>
          <p:cNvSpPr/>
          <p:nvPr/>
        </p:nvSpPr>
        <p:spPr>
          <a:xfrm>
            <a:off x="12959358" y="7352824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2959358" y="6795611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 1:N</a:t>
            </a:r>
            <a:endParaRPr lang="en-US" sz="2175" dirty="0"/>
          </a:p>
        </p:txBody>
      </p:sp>
      <p:sp>
        <p:nvSpPr>
          <p:cNvPr id="47" name="Shape 45"/>
          <p:cNvSpPr/>
          <p:nvPr/>
        </p:nvSpPr>
        <p:spPr>
          <a:xfrm>
            <a:off x="952500" y="8060531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952500" y="7503319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order_item</a:t>
            </a:r>
            <a:endParaRPr lang="en-US" sz="2025" dirty="0"/>
          </a:p>
        </p:txBody>
      </p:sp>
      <p:sp>
        <p:nvSpPr>
          <p:cNvPr id="49" name="Shape 47"/>
          <p:cNvSpPr/>
          <p:nvPr/>
        </p:nvSpPr>
        <p:spPr>
          <a:xfrm>
            <a:off x="5861923" y="8060531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861923" y="7503319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상세 · 당시 가격 스냅샷</a:t>
            </a:r>
            <a:endParaRPr lang="en-US" sz="2175" dirty="0"/>
          </a:p>
        </p:txBody>
      </p:sp>
      <p:sp>
        <p:nvSpPr>
          <p:cNvPr id="51" name="Shape 49"/>
          <p:cNvSpPr/>
          <p:nvPr/>
        </p:nvSpPr>
        <p:spPr>
          <a:xfrm>
            <a:off x="12959358" y="8060531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2959358" y="7503319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orders 1:N</a:t>
            </a:r>
            <a:endParaRPr lang="en-US" sz="2175" dirty="0"/>
          </a:p>
        </p:txBody>
      </p:sp>
      <p:sp>
        <p:nvSpPr>
          <p:cNvPr id="53" name="Shape 51"/>
          <p:cNvSpPr/>
          <p:nvPr/>
        </p:nvSpPr>
        <p:spPr>
          <a:xfrm>
            <a:off x="952500" y="8768239"/>
            <a:ext cx="4376023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952500" y="8211026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payment</a:t>
            </a:r>
            <a:endParaRPr lang="en-US" sz="2025" dirty="0"/>
          </a:p>
        </p:txBody>
      </p:sp>
      <p:sp>
        <p:nvSpPr>
          <p:cNvPr id="55" name="Shape 53"/>
          <p:cNvSpPr/>
          <p:nvPr/>
        </p:nvSpPr>
        <p:spPr>
          <a:xfrm>
            <a:off x="5861923" y="8768239"/>
            <a:ext cx="656403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861923" y="8211026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기록 (카드 / 가상계좌)</a:t>
            </a:r>
            <a:endParaRPr lang="en-US" sz="2175" dirty="0"/>
          </a:p>
        </p:txBody>
      </p:sp>
      <p:sp>
        <p:nvSpPr>
          <p:cNvPr id="57" name="Shape 55"/>
          <p:cNvSpPr/>
          <p:nvPr/>
        </p:nvSpPr>
        <p:spPr>
          <a:xfrm>
            <a:off x="12959358" y="8768239"/>
            <a:ext cx="437614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2959358" y="8211026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orders 1:1</a:t>
            </a:r>
            <a:endParaRPr lang="en-US" sz="2175" dirty="0"/>
          </a:p>
        </p:txBody>
      </p:sp>
      <p:sp>
        <p:nvSpPr>
          <p:cNvPr id="59" name="Text 57"/>
          <p:cNvSpPr/>
          <p:nvPr/>
        </p:nvSpPr>
        <p:spPr>
          <a:xfrm>
            <a:off x="952500" y="8918734"/>
            <a:ext cx="450730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57"/>
              </a:lnSpc>
              <a:buNone/>
            </a:pP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</a:t>
            </a:r>
            <a:endParaRPr lang="en-US" sz="2025" dirty="0"/>
          </a:p>
        </p:txBody>
      </p:sp>
      <p:sp>
        <p:nvSpPr>
          <p:cNvPr id="60" name="Text 58"/>
          <p:cNvSpPr/>
          <p:nvPr/>
        </p:nvSpPr>
        <p:spPr>
          <a:xfrm>
            <a:off x="5861923" y="8918734"/>
            <a:ext cx="67609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· 별점 1~5</a:t>
            </a:r>
            <a:endParaRPr lang="en-US" sz="2175" dirty="0"/>
          </a:p>
        </p:txBody>
      </p:sp>
      <p:sp>
        <p:nvSpPr>
          <p:cNvPr id="61" name="Text 59"/>
          <p:cNvSpPr/>
          <p:nvPr/>
        </p:nvSpPr>
        <p:spPr>
          <a:xfrm>
            <a:off x="12959358" y="8918734"/>
            <a:ext cx="4507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67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member · product 1:N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1074420"/>
            <a:ext cx="174498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9100" y="556260"/>
            <a:ext cx="170534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— 설계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312313" y="419100"/>
            <a:ext cx="39513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620"/>
              </a:lnSpc>
              <a:buNone/>
            </a:pPr>
            <a:r>
              <a:rPr lang="en-US" sz="33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ERD — 9개 테이블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062085" y="533400"/>
            <a:ext cx="19685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낙관적 락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1232713" y="533400"/>
            <a:ext cx="3277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order_price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당시 가격 스냅샷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593491" y="533400"/>
            <a:ext cx="3602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delivery_address </a:t>
            </a:r>
            <a:r>
              <a:rPr lang="en-US" sz="18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배송지 스냅샷</a:t>
            </a:r>
            <a:endParaRPr lang="en-US" sz="187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100" y="1320641"/>
            <a:ext cx="17449800" cy="8556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— 설계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 결정 ① 주문 시점 가격을 복사한다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890010"/>
            <a:ext cx="7483518" cy="163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308"/>
              </a:lnSpc>
              <a:buNone/>
            </a:pPr>
            <a:r>
              <a:rPr lang="en-US" sz="27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후에 관리자가 상품 가격을 바꾸면, </a:t>
            </a:r>
            <a:r>
              <a:rPr lang="en-US" sz="2700" dirty="0">
                <a:solidFill>
                  <a:srgbClr val="8C4A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전 주문 내역에 “지금 가격”이 보입니다. </a:t>
            </a:r>
            <a:r>
              <a:rPr lang="en-US" sz="27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결제 금액과 다른 숫자가 남는 회계 사고입니다.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827395"/>
            <a:ext cx="748351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이유로 배송지도 주문에 복사합니다 — 회원이 주소를 바꿔도 과거 주문서는 그대로여야 하니까요.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7145655"/>
            <a:ext cx="7265551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52500" y="7458075"/>
            <a:ext cx="7483518" cy="967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정규화가 항상 정답은 아닙니다. 변하면 안 되는 값은 의도적으로 중복 저장합니다.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980051" y="3890010"/>
            <a:ext cx="8355449" cy="4497705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61051" y="4309110"/>
            <a:ext cx="7844113" cy="3697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주문 생성 시점의 가격을 order_item에 박아둔다 </a:t>
            </a: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order.addItem(new OrderItem(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product,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C9D6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product.getPrice()</a:t>
            </a: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  </a:t>
            </a:r>
            <a:r>
              <a:rPr lang="en-US" sz="1950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← 지금 이 순간의 가격 </a:t>
            </a: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cartItem.getQuantity()));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— 설계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 결정 ② 결제를 별도 테이블로 둔다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466147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주문에 </a:t>
            </a: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payment_key </a:t>
            </a:r>
            <a:r>
              <a:rPr lang="en-US" sz="28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컬럼 하나를 더하면 될 것 같지만 —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4487228"/>
            <a:ext cx="16383000" cy="260223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4494847"/>
            <a:ext cx="5449491" cy="25869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41120" y="4952048"/>
            <a:ext cx="515624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재시도된다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41120" y="5710238"/>
            <a:ext cx="48281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결제는 실패하고 다시 시도됩니다. 주문 1건에 결제 시도 N건.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419136" y="4494847"/>
            <a:ext cx="5449610" cy="25869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00136" y="4952048"/>
            <a:ext cx="5156371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필드가 다르다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00136" y="5710238"/>
            <a:ext cx="4828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가상계좌는 은행코드·계좌번호·입금기한이 추가로 필요합니다.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878270" y="4494847"/>
            <a:ext cx="5449610" cy="258699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259270" y="4952048"/>
            <a:ext cx="5156371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생명주기가 다르다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259270" y="5710238"/>
            <a:ext cx="482823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기록은 감사(audit) 대상이라 주문과 함께 지워질 수 없습니다.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7584757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2500" y="7935277"/>
            <a:ext cx="168744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결제 수단이 늘어날 때마다 주문 테이블을 넓히지 않기 위해 분리했습니다.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20715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758"/>
              </a:lnSpc>
              <a:buNone/>
            </a:pPr>
            <a:r>
              <a:rPr lang="en-US" sz="90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7092315"/>
            <a:ext cx="1802130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7200" dirty="0">
                <a:solidFill>
                  <a:srgbClr val="FFFEF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데이터가 깨지는 지점을 막는 방법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52500" y="8555355"/>
            <a:ext cx="16383000" cy="9525"/>
          </a:xfrm>
          <a:prstGeom prst="rect">
            <a:avLst/>
          </a:prstGeom>
          <a:solidFill>
            <a:srgbClr val="5A5A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886968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C7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주문 · 주문 상태 · 결제 실패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재고 1개, 동시 주문 2건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4142422"/>
            <a:ext cx="13335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3628072"/>
            <a:ext cx="1409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142422"/>
            <a:ext cx="752475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0" y="362807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주문 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10750" y="4142422"/>
            <a:ext cx="752475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10750" y="3628072"/>
            <a:ext cx="7750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주문 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4980623"/>
            <a:ext cx="13335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2500" y="4378643"/>
            <a:ext cx="14097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2286000" y="49806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0" y="4378643"/>
            <a:ext cx="77504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재고 읽기 → 1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810750" y="49806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2500" y="5818823"/>
            <a:ext cx="13335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2500" y="5216843"/>
            <a:ext cx="14097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2286000" y="58188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810750" y="58188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810750" y="5216843"/>
            <a:ext cx="77504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재고 읽기 → 1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6657023"/>
            <a:ext cx="13335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2500" y="6055043"/>
            <a:ext cx="14097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2286000" y="66570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286000" y="6055043"/>
            <a:ext cx="77504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1 − 1 = 0 저장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810750" y="66570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2500" y="7495223"/>
            <a:ext cx="13335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2500" y="6893243"/>
            <a:ext cx="14097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2286000" y="74952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10750" y="7495223"/>
            <a:ext cx="752475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810750" y="6893243"/>
            <a:ext cx="775049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C4A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1 − 1 = 0 저장 — A의 차감이 사라짐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52500" y="7921943"/>
            <a:ext cx="3012936" cy="586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C4A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재고 0, 주문 2건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224933" y="7990523"/>
            <a:ext cx="13284736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재고보다 많이 팔리는 oversell. 각 요청은 혼자서는 완벽히 정상이라 일반 테스트로는 잡히지 않습니다.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해결 — 낙관적 락과 자동 재시도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377565"/>
            <a:ext cx="86753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80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— 상품에 버전을 붙인다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025265"/>
            <a:ext cx="7886700" cy="1971675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76350" y="4368165"/>
            <a:ext cx="747560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UPDATE 시 "내가 읽은 버전이 그대로인가"를 함께 검사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@Version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Long version;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52500" y="6225540"/>
            <a:ext cx="7886700" cy="1910715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83970" y="6537960"/>
            <a:ext cx="746036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333330"/>
                </a:solidFill>
                <a:highlight>
                  <a:srgbClr val="F6F4E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 product SET stock_quantity = 0, version = 6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333330"/>
                </a:solidFill>
                <a:highlight>
                  <a:srgbClr val="F6F4E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WHERE id = 3 AND version = 5; 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8C4A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-- 0건 업데이트되면 충돌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448800" y="3377565"/>
            <a:ext cx="86753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80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— 충돌하면 다시 시도한다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48800" y="4025265"/>
            <a:ext cx="7886700" cy="3686175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772650" y="4368165"/>
            <a:ext cx="7475601" cy="303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@Retryable(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sc-camel-retry-for = OptimisticLockingFailureException.class,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sc-camel-max-attempts = 3,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backoff = @Backoff(delay = 50))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@Transactional</a:t>
            </a:r>
            <a:endParaRPr lang="en-US" sz="1875" dirty="0"/>
          </a:p>
          <a:p>
            <a:pPr marL="0" indent="0" algn="l">
              <a:lnSpc>
                <a:spcPct val="137195"/>
              </a:lnSpc>
              <a:buNone/>
            </a:pPr>
            <a:r>
              <a:rPr lang="en-US" sz="1875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OrderResponse createOrder(...) { ... }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448800" y="7940040"/>
            <a:ext cx="8123301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3번 모두 실패하면 </a:t>
            </a:r>
            <a:r>
              <a:rPr lang="en-US" sz="195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GlobalExceptionHandler </a:t>
            </a: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409 Conflict로 응답합니다.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여기서 한 번 틀렸던 것 — 어노테이션 순서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903821"/>
            <a:ext cx="7438549" cy="4089083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4361021"/>
            <a:ext cx="6823505" cy="3212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61"/>
              </a:lnSpc>
              <a:buNone/>
            </a:pPr>
            <a:r>
              <a:rPr lang="en-US" sz="22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@Retryable      </a:t>
            </a:r>
            <a:r>
              <a:rPr lang="en-US" sz="2250" dirty="0">
                <a:solidFill>
                  <a:srgbClr val="9BBE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← 바깥 </a:t>
            </a:r>
            <a:r>
              <a:rPr lang="en-US" sz="22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@Transactional  </a:t>
            </a:r>
            <a:r>
              <a:rPr lang="en-US" sz="2250" dirty="0">
                <a:solidFill>
                  <a:srgbClr val="9BBE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← 안쪽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53049" y="3903821"/>
            <a:ext cx="8427925" cy="116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03"/>
              </a:lnSpc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@Retryable </a:t>
            </a:r>
            <a:r>
              <a:rPr lang="en-US" sz="28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바깥에 있어야 재시도마다 새 트랜잭션이 열립니다.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53049" y="5371624"/>
            <a:ext cx="8427925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75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반대였다면 롤백된 트랜잭션 안에서 재시도하게 되어, 이미 죽은 트랜잭션을 계속 재사용하다 3번 다 실패합니다.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53049" y="6750844"/>
            <a:ext cx="8182451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53049" y="7063264"/>
            <a:ext cx="8427925" cy="967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스프링 AOP의 어드바이스에 순서가 있다는 것을 이 버그로 처음 알았고, 코드에 주석으로 남겼습니다.</a:t>
            </a:r>
            <a:endParaRPr lang="en-US" sz="2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비관적 락이 아닌가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734753"/>
            <a:ext cx="5119688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72188" y="3734753"/>
            <a:ext cx="5631656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38888" y="3117533"/>
            <a:ext cx="526720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비관적 락 · SELECT FOR UPDATE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703844" y="2888933"/>
            <a:ext cx="5631656" cy="85344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703844" y="3734753"/>
            <a:ext cx="5631656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70544" y="3117533"/>
            <a:ext cx="526720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낙관적 락 · 선택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4679632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2500" y="3990022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72188" y="467963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38888" y="399002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잡고 남은 사람은 기다리게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703844" y="3742372"/>
            <a:ext cx="5631656" cy="94488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703844" y="467963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970544" y="399002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일단 진행, 충돌하면 되돌림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" y="5624513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52500" y="4934903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충돌이 드물 때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072188" y="562451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38888" y="493490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락 비용을 냄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703844" y="4687253"/>
            <a:ext cx="5631656" cy="94488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703844" y="562451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1970544" y="493490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거의 공짜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6569392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500" y="5879782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충돌이 잦을 때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072188" y="656939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38888" y="587978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유리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703844" y="5632132"/>
            <a:ext cx="5631656" cy="94488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703844" y="656939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1970544" y="587978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재시도가 늘어남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52500" y="6824662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데드락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38888" y="682466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가능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703844" y="6577013"/>
            <a:ext cx="5631656" cy="93726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970544" y="682466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52500" y="7971473"/>
            <a:ext cx="1687449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75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쇼핑몰은 같은 상품에 동시 주문이 몰리는 일이 드뭅니다. 한정판 티켓팅처럼 충돌이 확실한 도메인이라면 반대 선택이 맞습니다.</a:t>
            </a:r>
            <a:endParaRPr lang="en-US" sz="2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주문 상태 — 전이 규칙을 enum이 소유한다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475672"/>
            <a:ext cx="9326880" cy="5288280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3856672"/>
            <a:ext cx="8920887" cy="45643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boolean canTransitionTo(OrderStatus target) {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return switch (this) {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case ORDERED   -&gt; target == PAID || target == CANCELED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  || target == WAITING_FOR_DEPOSIT;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case WAITING_FOR_DEPOSIT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-&gt; target == PAID || target == CANCELED;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case PAID      -&gt; target == SHIPPING || target == CANCELED;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case SHIPPING  -&gt; target == DELIVERED;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        -&gt; false;   // DELIVERED · CANCELED는 종착 </a:t>
            </a: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};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88981" y="3475672"/>
            <a:ext cx="6639915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92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허용되지 않은 전이는 </a:t>
            </a: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changeStatus() </a:t>
            </a: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예외가 되어 400으로 응답합니다. “배송 시작 후 취소 불가”가 문서가 아니라 코드로 강제됩니다.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888981" y="5308282"/>
            <a:ext cx="6639915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조건문을 서비스 곳곳에 흩뿌리면 상태 하나를 추가할 때마다 고칠 곳을 찾아다녀야 합니다.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888981" y="6607493"/>
            <a:ext cx="644652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888981" y="6900863"/>
            <a:ext cx="6639915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실제로 가상계좌를 나중에 추가했을 때, 서비스 코드는 거의 건드리지 않았습니다.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상태 전이도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650933"/>
            <a:ext cx="1668780" cy="792480"/>
          </a:xfrm>
          <a:prstGeom prst="rect">
            <a:avLst/>
          </a:prstGeom>
          <a:solidFill>
            <a:srgbClr val="EDEADB"/>
          </a:solidFill>
          <a:ln w="7620">
            <a:solidFill>
              <a:srgbClr val="757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6820" y="3868103"/>
            <a:ext cx="11963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830830" y="4042410"/>
            <a:ext cx="857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97630" y="3650933"/>
            <a:ext cx="1188720" cy="792480"/>
          </a:xfrm>
          <a:prstGeom prst="rect">
            <a:avLst/>
          </a:prstGeom>
          <a:solidFill>
            <a:srgbClr val="EDEADB"/>
          </a:solidFill>
          <a:ln w="7620">
            <a:solidFill>
              <a:srgbClr val="757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71950" y="3868103"/>
            <a:ext cx="7162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295900" y="4042410"/>
            <a:ext cx="857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62700" y="3650933"/>
            <a:ext cx="1828800" cy="792480"/>
          </a:xfrm>
          <a:prstGeom prst="rect">
            <a:avLst/>
          </a:prstGeom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37020" y="3868103"/>
            <a:ext cx="13563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SHIPPING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401050" y="4042410"/>
            <a:ext cx="857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467850" y="3650933"/>
            <a:ext cx="1988820" cy="792480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42170" y="3868103"/>
            <a:ext cx="15163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DELIVERED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666220" y="3879533"/>
            <a:ext cx="49684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24000" y="5014913"/>
            <a:ext cx="91749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가상계좌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74846" y="5177790"/>
            <a:ext cx="5715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355896" y="4786313"/>
            <a:ext cx="3589020" cy="792480"/>
          </a:xfrm>
          <a:prstGeom prst="rect">
            <a:avLst/>
          </a:prstGeom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30216" y="5003483"/>
            <a:ext cx="31480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WAITING_FOR_DEPOSIT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154466" y="5177790"/>
            <a:ext cx="5715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935516" y="5014913"/>
            <a:ext cx="189289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입금 확인 후 PAID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24000" y="5921693"/>
            <a:ext cx="1828800" cy="792480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798320" y="6138863"/>
            <a:ext cx="13563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CANCELED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62350" y="6138863"/>
            <a:ext cx="110631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ORDERED · WAITING_FOR_DEPOSIT · PAID 에서만 가능 — 배송이 시작되면 취소할 수 없습니다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7399973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2500" y="7750493"/>
            <a:ext cx="168744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그림이 곧 코드입니다. 새 상태를 추가할 때 고칠 파일은 하나뿐입니다.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결제가 실패하면 재고는 어떻게 되나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601879"/>
            <a:ext cx="7483518" cy="163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308"/>
              </a:lnSpc>
              <a:buNone/>
            </a:pPr>
            <a:r>
              <a:rPr lang="en-US" sz="27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생성 시점에 재고를 이미 깎았는데 결제가 실패하면, </a:t>
            </a:r>
            <a:r>
              <a:rPr lang="en-US" sz="2700" dirty="0">
                <a:solidFill>
                  <a:srgbClr val="8C4A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재고가 영원히 잠긴 채 아무도 살 수 없습니다.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520214"/>
            <a:ext cx="7483518" cy="1013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실패하면 주문을 CANCELED로 되돌리고 재고를 복구합니다.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6819424"/>
            <a:ext cx="7265551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52500" y="7131844"/>
            <a:ext cx="7483518" cy="1544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92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걸음 더 — 사용자가 실패한 결제를 새로고침해 두 번 호출하면? 재고가 두 번 복구되어 </a:t>
            </a:r>
            <a:r>
              <a:rPr lang="en-US" sz="2550" dirty="0">
                <a:solidFill>
                  <a:srgbClr val="8C4A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없던 재고가 생겨납니다.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980051" y="3601879"/>
            <a:ext cx="8355449" cy="2524125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22951" y="3982879"/>
            <a:ext cx="7920313" cy="1800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이미 CANCELED면 재전이 차단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order.changeStatus(OrderStatus.CANCELED);</a:t>
            </a:r>
            <a:endParaRPr lang="en-US" sz="1875" dirty="0"/>
          </a:p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restoreStock(order); </a:t>
            </a:r>
            <a:endParaRPr lang="en-US" sz="1875" dirty="0"/>
          </a:p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9BBE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← 두 번째 호출은 도달 못함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980051" y="6430804"/>
            <a:ext cx="8606113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상태 머신이 이중 복구를 구조적으로 차단합니다. “이미 취소했나?” 플래그가 필요 없습니다 — 상태 자체가 그 정보를 갖고 있으니까요.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외부 결제 연동을 인터페이스로 감싼 이유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2549843"/>
            <a:ext cx="16383000" cy="2545080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2930843"/>
            <a:ext cx="16188690" cy="1821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interface PaymentProcessor {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ConfirmResult confirm(String paymentKey, String tossOrderId, int amount);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ConfirmResult checkStatus(String paymentKey);    </a:t>
            </a:r>
            <a:endParaRPr lang="en-US" sz="1950" dirty="0"/>
          </a:p>
          <a:p>
            <a:pPr marL="0" indent="0" algn="l">
              <a:lnSpc>
                <a:spcPct val="136047"/>
              </a:lnSpc>
              <a:buNone/>
            </a:pPr>
            <a:r>
              <a:rPr lang="en-US" sz="1950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가상계좌 입금 확인 </a:t>
            </a:r>
            <a:r>
              <a:rPr lang="en-US" sz="195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5475923"/>
            <a:ext cx="16383000" cy="175260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60120" y="5483543"/>
            <a:ext cx="8179118" cy="173736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03020" y="5864543"/>
            <a:ext cx="8242649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TossPaymentProcessor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03020" y="6420803"/>
            <a:ext cx="82426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운영 — 토스페이먼츠 API 호출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8763" y="5483543"/>
            <a:ext cx="8179118" cy="173736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491663" y="5864543"/>
            <a:ext cx="8242649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테스트용 Mock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91663" y="6420803"/>
            <a:ext cx="82426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없이 성공·실패 시나리오 재현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" y="7609523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52500" y="7883843"/>
            <a:ext cx="8162544" cy="1501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이게 없으면 주문 서비스 테스트가 매번 실제 결제 API를 때립니다 — 느리고, 돈이 들고, 네트워크가 죽으면 테스트도 같이 죽습니다.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10700" y="7899082"/>
            <a:ext cx="81625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263"/>
              </a:lnSpc>
              <a:buNone/>
            </a:pPr>
            <a:r>
              <a:rPr lang="en-US" sz="24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“테스트하기 어렵다”는 신호는 대개 설계가 덜 분리됐다는 신호입니다.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가상계좌 — 웹훅 대신 폴링을 고른 이유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513773"/>
            <a:ext cx="5119688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72188" y="3513773"/>
            <a:ext cx="5631656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38888" y="2896553"/>
            <a:ext cx="526720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웹훅 · 실무 표준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703844" y="2667953"/>
            <a:ext cx="5631656" cy="85344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703844" y="3513773"/>
            <a:ext cx="5631656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70544" y="2896553"/>
            <a:ext cx="526720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폴링 · 선택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4458653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2500" y="3769043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72188" y="445865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38888" y="376904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토스가 내 서버로 알려줌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703844" y="3521393"/>
            <a:ext cx="5631656" cy="94488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703844" y="445865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970544" y="376904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토스에 주기적으로 물어봄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2500" y="5403532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52500" y="4713922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072188" y="540353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38888" y="471392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703844" y="4466272"/>
            <a:ext cx="5631656" cy="94488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703844" y="5403532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1970544" y="4713922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 시점에만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6790373"/>
            <a:ext cx="5119688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500" y="5658803"/>
            <a:ext cx="5273278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개발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072188" y="679037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38888" y="5658803"/>
            <a:ext cx="5267206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외부에서 내 PC로 들어와야 함 (터널 필요)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703844" y="5411153"/>
            <a:ext cx="5631656" cy="138684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703844" y="6790373"/>
            <a:ext cx="5631656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1970544" y="5658803"/>
            <a:ext cx="5267206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그냥 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52500" y="7045643"/>
            <a:ext cx="527327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38888" y="704564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PC마다 터널 설정 필요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703844" y="6797993"/>
            <a:ext cx="5631656" cy="937260"/>
          </a:xfrm>
          <a:prstGeom prst="rect">
            <a:avLst/>
          </a:prstGeom>
          <a:solidFill>
            <a:srgbClr val="F6F4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970544" y="7045643"/>
            <a:ext cx="526720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클론하면 바로 동작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52500" y="8192453"/>
            <a:ext cx="1687449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75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프로젝트의 원칙은 “클론하면 누구 PC에서나 동일하게 동작”이었고, 웹훅은 그 원칙을 깨뜨립니다. </a:t>
            </a: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표준을 알면서도 제약에 맞춰 다른 선택을 했습니다.</a:t>
            </a:r>
            <a:endParaRPr lang="en-US" sz="2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— 기술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인가는 두 겹으로 막는다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4044791"/>
            <a:ext cx="8355330" cy="4150043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33500" y="4463891"/>
            <a:ext cx="7843990" cy="3349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URL 패턴 레벨 — SecurityConfig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.requestMatchers("/api/admin/**").hasRole("ADMIN") </a:t>
            </a: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메서드 레벨 — AdminOrderController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@PreAuthorize("hasRole('ADMIN')")</a:t>
            </a:r>
            <a:endParaRPr lang="en-US" sz="1875" dirty="0"/>
          </a:p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@PatchMapping("/{orderId}/status")</a:t>
            </a:r>
            <a:endParaRPr lang="en-US" sz="1875" dirty="0"/>
          </a:p>
          <a:p>
            <a:pPr marL="0" indent="0" algn="l">
              <a:lnSpc>
                <a:spcPct val="141006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OrderResponse changeStatus(...) { ... }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069831" y="4044791"/>
            <a:ext cx="7483518" cy="1544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92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패턴은 나중에 경로를 리팩터링하다 실수로 뚫릴 수 있습니다. 메서드 레벨 검사는 경로가 바뀌어도 따라다닙니다.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069831" y="5874544"/>
            <a:ext cx="7265551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69831" y="6186964"/>
            <a:ext cx="799210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80" dirty="0">
                <a:solidFill>
                  <a:srgbClr val="7577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vs JWT — 세션을 골랐습니다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69831" y="6777514"/>
            <a:ext cx="7483518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서버 + 같은 오리진 프록시 구조에서는 세션이 더 단순하고 안전합니다. 토큰 탈취·만료·갱신 문제를 아예 만들지 않습니다. 서버를 수평 확장할 때 JWT를 검토하면 됩니다.</a:t>
            </a:r>
            <a:endParaRPr lang="en-US" sz="23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3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20715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758"/>
              </a:lnSpc>
              <a:buNone/>
            </a:pPr>
            <a:r>
              <a:rPr lang="en-US" sz="90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III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7092315"/>
            <a:ext cx="1802130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744"/>
              </a:lnSpc>
              <a:buNone/>
            </a:pPr>
            <a:r>
              <a:rPr lang="en-US" sz="7200" dirty="0">
                <a:solidFill>
                  <a:srgbClr val="FFFEF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검증과 배포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52500" y="8555355"/>
            <a:ext cx="16383000" cy="9525"/>
          </a:xfrm>
          <a:prstGeom prst="rect">
            <a:avLst/>
          </a:prstGeom>
          <a:solidFill>
            <a:srgbClr val="5A5A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886968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9C7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git에 없으면 없는 것</a:t>
            </a:r>
            <a:endParaRPr lang="en-US" sz="2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—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 전략 — 세 계층으로 나눈다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081338"/>
            <a:ext cx="16383000" cy="298704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0120" y="3088958"/>
            <a:ext cx="5449491" cy="297180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2070" y="3508058"/>
            <a:ext cx="519815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service/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2070" y="4102418"/>
            <a:ext cx="51981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비즈니스 로직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22070" y="4788218"/>
            <a:ext cx="486735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MockitoExtension — 의존성은 전부 Mock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19136" y="3088958"/>
            <a:ext cx="5449610" cy="297180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781086" y="3508058"/>
            <a:ext cx="519828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repository/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81086" y="4102418"/>
            <a:ext cx="51982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쿼리가 실제로 도는가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781086" y="4788218"/>
            <a:ext cx="4867481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@DataJpaTest — 실제 H2에서 JPQL·연관관계 검증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878270" y="3088958"/>
            <a:ext cx="5449610" cy="297180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240220" y="3508058"/>
            <a:ext cx="519828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controller/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240220" y="4102418"/>
            <a:ext cx="519828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HTTP 계약과 인가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240220" y="4788218"/>
            <a:ext cx="4867481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04"/>
              </a:lnSpc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@WebMvcTest + SecurityConfig — 상태코드·JSON·권한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" y="6525578"/>
            <a:ext cx="1687449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75"/>
              </a:lnSpc>
              <a:buNone/>
            </a:pPr>
            <a:r>
              <a:rPr lang="en-US" sz="25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전부 통합 테스트로 짜면 느리고, 깨졌을 때 어디가 문제인지 모릅니다. 서비스 테스트가 깨지면 로직 문제, 리포지토리 테스트가 깨지면 쿼리 문제 — 범위가 좁혀집니다.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52500" y="8019098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52500" y="8350568"/>
            <a:ext cx="1687449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동시성은 말이 아니라 실제 멀티스레드 테스트(OrderConcurrencyTest)로 검증합니다.</a:t>
            </a:r>
            <a:endParaRPr lang="en-US" sz="2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—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607"/>
              </a:lnSpc>
              <a:buNone/>
            </a:pPr>
            <a:r>
              <a:rPr lang="en-US" sz="45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Claude 서브에이전트로 리뷰를 역할별로 쪼갠다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18385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433286"/>
            <a:ext cx="16874490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25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 하나에 요구사항·보안·품질·테스트 리뷰가 뒤섞여 있으면, 실패 모드가 서로 달라 한 세션이 다 맡을 때 놓침이 생깁니다. 검토 기준도 "맞고 깔끔한가"에서 </a:t>
            </a:r>
            <a:r>
              <a:rPr lang="en-US" sz="232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"실제 돈이 오가면 뭐가 터지나"</a:t>
            </a: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올렸습니다.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952500" y="4691538"/>
            <a:ext cx="16383000" cy="351790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4699159"/>
            <a:ext cx="5449491" cy="116205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07770" y="4927759"/>
            <a:ext cx="54496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spec-reviewer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07770" y="5297329"/>
            <a:ext cx="544961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방향 · 읽기전용 · sonnet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19136" y="4699159"/>
            <a:ext cx="5449610" cy="116205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66786" y="4927759"/>
            <a:ext cx="54497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security-reviewer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666786" y="5297329"/>
            <a:ext cx="544974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OWASP 보안 · 읽기전용 · sonnet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78270" y="4699159"/>
            <a:ext cx="5449610" cy="116205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25920" y="4927759"/>
            <a:ext cx="54497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125920" y="5297329"/>
            <a:ext cx="544974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컨벤션·설계 · 읽기전용 · sonnet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5870734"/>
            <a:ext cx="5449491" cy="116205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07770" y="6099334"/>
            <a:ext cx="54496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reliability-reviewer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07770" y="6468904"/>
            <a:ext cx="544961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멱등성·트랜잭션·동시성 · 읽기전용 · sonnet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19136" y="5870734"/>
            <a:ext cx="5449610" cy="116205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66786" y="6099334"/>
            <a:ext cx="54497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learning-annotator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666786" y="6468904"/>
            <a:ext cx="544974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첫 등장 주석 · 읽기전용 · haiku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78270" y="5870734"/>
            <a:ext cx="5449610" cy="1162050"/>
          </a:xfrm>
          <a:prstGeom prst="rect">
            <a:avLst/>
          </a:prstGeom>
          <a:solidFill>
            <a:srgbClr val="ED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125920" y="6099334"/>
            <a:ext cx="54497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test-writer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25920" y="6468904"/>
            <a:ext cx="544974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작성 + 실행(검증) · 쓰기 · inherit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85471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500" y="8826500"/>
            <a:ext cx="168744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263"/>
              </a:lnSpc>
              <a:buNone/>
            </a:pP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결정론적 검사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·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포맷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)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실행해서 확인하고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설계의 좋고 나쁨은 에이전트가 판단합니다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읽기전용 리뷰어는 병렬로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쓰기 권한을 가진 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test-writer · learning-writer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단독 실행 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— </a:t>
            </a:r>
            <a:r>
              <a:rPr lang="ko-KR" altLang="en-US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권한 분리가 병렬화의 전제입니다</a:t>
            </a:r>
            <a:r>
              <a:rPr lang="en-US" altLang="ko-KR" sz="240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2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34E461E-D234-64A6-378E-C2BCDDAA0A01}"/>
              </a:ext>
            </a:extLst>
          </p:cNvPr>
          <p:cNvSpPr/>
          <p:nvPr/>
        </p:nvSpPr>
        <p:spPr>
          <a:xfrm>
            <a:off x="965200" y="7035800"/>
            <a:ext cx="16370300" cy="1168400"/>
          </a:xfrm>
          <a:prstGeom prst="rect">
            <a:avLst/>
          </a:prstGeom>
          <a:solidFill>
            <a:srgbClr val="FFFEF2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308E7-46AE-FE07-FA5C-C58ECED923DE}"/>
              </a:ext>
            </a:extLst>
          </p:cNvPr>
          <p:cNvSpPr txBox="1"/>
          <p:nvPr/>
        </p:nvSpPr>
        <p:spPr>
          <a:xfrm>
            <a:off x="965200" y="7264400"/>
            <a:ext cx="16370300" cy="3808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875">
                <a:solidFill>
                  <a:srgbClr val="000000"/>
                </a:solidFill>
                <a:latin typeface="JetBrains Mono"/>
              </a:rPr>
              <a:t>learning-writer</a:t>
            </a:r>
            <a:endParaRPr lang="ko-KR" altLang="en-US" sz="1875">
              <a:solidFill>
                <a:srgbClr val="000000"/>
              </a:solidFill>
              <a:latin typeface="JetBrains Mon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8FC528-40CB-1E71-FC79-36926DC7783F}"/>
              </a:ext>
            </a:extLst>
          </p:cNvPr>
          <p:cNvSpPr txBox="1"/>
          <p:nvPr/>
        </p:nvSpPr>
        <p:spPr>
          <a:xfrm>
            <a:off x="965200" y="7632700"/>
            <a:ext cx="16370300" cy="3683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>
                <a:solidFill>
                  <a:srgbClr val="000000"/>
                </a:solidFill>
                <a:latin typeface="JetBrains Mono"/>
              </a:rPr>
              <a:t>학습노트 산문 확장 </a:t>
            </a:r>
            <a:r>
              <a:rPr lang="en-US" altLang="ko-KR">
                <a:solidFill>
                  <a:srgbClr val="000000"/>
                </a:solidFill>
                <a:latin typeface="JetBrains Mono"/>
              </a:rPr>
              <a:t>· </a:t>
            </a:r>
            <a:r>
              <a:rPr lang="ko-KR" altLang="en-US">
                <a:solidFill>
                  <a:srgbClr val="000000"/>
                </a:solidFill>
                <a:latin typeface="JetBrains Mono"/>
              </a:rPr>
              <a:t>쓰기 </a:t>
            </a:r>
            <a:r>
              <a:rPr lang="en-US" altLang="ko-KR">
                <a:solidFill>
                  <a:srgbClr val="000000"/>
                </a:solidFill>
                <a:latin typeface="JetBrains Mono"/>
              </a:rPr>
              <a:t>· haiku</a:t>
            </a:r>
            <a:endParaRPr lang="ko-KR" altLang="en-US">
              <a:solidFill>
                <a:srgbClr val="000000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—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 결과 — 2026.08.08 실측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4020503"/>
            <a:ext cx="342561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150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402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52500" y="5849303"/>
            <a:ext cx="34256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2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 · 실패 0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828699" y="3715703"/>
            <a:ext cx="1250680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28699" y="3064193"/>
            <a:ext cx="397450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— JUnit 5 · Mockito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86860" y="3064193"/>
            <a:ext cx="62484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279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28699" y="4584382"/>
            <a:ext cx="1250680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28699" y="3932872"/>
            <a:ext cx="535963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— Vitest · Testing Library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786860" y="3932872"/>
            <a:ext cx="62484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28699" y="5453063"/>
            <a:ext cx="12506802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28699" y="4801553"/>
            <a:ext cx="367445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스모크 — Playwright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52620" y="4801553"/>
            <a:ext cx="2590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28699" y="5670232"/>
            <a:ext cx="424692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JaCoCo 커버리지 — 라인 / 브랜치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255240" y="5670232"/>
            <a:ext cx="228828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D6C6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98.8% / 87.9%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" y="6801803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52500" y="7152323"/>
            <a:ext cx="8123301" cy="1927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테스트가 전부 통과해도 못 잡는 것이 있습니다 — 프론트가 부르는 URL과 백엔드가 여는 URL이 다를 때, 세션 쿠키가 프록시를 못 넘어갈 때, 백엔드는 막았는데 관리자 화면이 일반 회원에게 그냥 보일 때.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9448800" y="7152323"/>
            <a:ext cx="8123301" cy="1927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263"/>
              </a:lnSpc>
              <a:buNone/>
            </a:pPr>
            <a:r>
              <a:rPr lang="en-US" sz="24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계층은 완벽한데 이어붙인 지점이 깨집니다. 그래서 핵심 사용자 경로는 브라우저로 실제 클릭합니다.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—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GitHub 활용 — 커밋에서 배포까지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669983"/>
            <a:ext cx="2717840" cy="2286000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6820" y="4001453"/>
            <a:ext cx="2386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26820" y="4424363"/>
            <a:ext cx="23861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커밋 · 218건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6820" y="4953953"/>
            <a:ext cx="224540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 63 · fix/test/refactor/docs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65590" y="4808220"/>
            <a:ext cx="476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37090" y="3669983"/>
            <a:ext cx="2701409" cy="2286000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1410" y="4001453"/>
            <a:ext cx="236804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11410" y="4424363"/>
            <a:ext cx="236804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GitHub 저장소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1410" y="4953953"/>
            <a:ext cx="2228969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KDT-ShoppingMallProject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3749" y="4808220"/>
            <a:ext cx="476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705249" y="3669983"/>
            <a:ext cx="3100864" cy="2286000"/>
          </a:xfrm>
          <a:prstGeom prst="rect">
            <a:avLst/>
          </a:prstGeom>
          <a:solidFill>
            <a:srgbClr val="EDEADB"/>
          </a:solidFill>
          <a:ln w="7620">
            <a:solidFill>
              <a:srgbClr val="7577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79569" y="4001453"/>
            <a:ext cx="280744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79569" y="4424363"/>
            <a:ext cx="280744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GitHub Actions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979569" y="4953953"/>
            <a:ext cx="2628791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push마다 워크플로 자동 실행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01363" y="4808220"/>
            <a:ext cx="476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472863" y="3669983"/>
            <a:ext cx="2511981" cy="2286000"/>
          </a:xfrm>
          <a:prstGeom prst="rect">
            <a:avLst/>
          </a:prstGeom>
          <a:solidFill>
            <a:srgbClr val="F6F4E6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1747183" y="4001453"/>
            <a:ext cx="21596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gate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7183" y="4424363"/>
            <a:ext cx="215967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 Jobs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747183" y="4953953"/>
            <a:ext cx="2039541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· frontend · e2e · deploy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080093" y="4808220"/>
            <a:ext cx="476250" cy="9525"/>
          </a:xfrm>
          <a:prstGeom prst="rect">
            <a:avLst/>
          </a:prstGeom>
          <a:solidFill>
            <a:srgbClr val="7577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4651593" y="3669983"/>
            <a:ext cx="2683907" cy="2286000"/>
          </a:xfrm>
          <a:prstGeom prst="rect">
            <a:avLst/>
          </a:prstGeom>
          <a:solidFill>
            <a:srgbClr val="333330"/>
          </a:solidFill>
          <a:ln w="762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925913" y="4001453"/>
            <a:ext cx="23487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9D6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925913" y="4424363"/>
            <a:ext cx="234879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EF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Azure 배포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925913" y="4953953"/>
            <a:ext cx="23487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C7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www.minsdev.works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6565582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2500" y="6916103"/>
            <a:ext cx="1687449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커밋 하나하나가 전부 같은 경로를 탑니다 — 브랜치 클릭도, 수동 배포도 없습니다. git push가 곧 검증이고, 검증을 통과한 것만 배포됩니다.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952500" y="8059103"/>
            <a:ext cx="180213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Nonprofit 프로그램으로 Actions를 사용해, 커밋마다 4개 job(백엔드·프론트·E2E·배포)을 매번 전부 돌려도 실행 시간 제약에 부딪히지 않았습니다.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—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CI 파이프라인 — 배포를 막는 것이 목적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2622233"/>
            <a:ext cx="16383000" cy="5250180"/>
          </a:xfrm>
          <a:prstGeom prst="rect">
            <a:avLst/>
          </a:prstGeom>
          <a:solidFill>
            <a:srgbClr val="DDDACA"/>
          </a:solidFill>
          <a:ln w="7620">
            <a:solidFill>
              <a:srgbClr val="DDD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0120" y="2629853"/>
            <a:ext cx="16367760" cy="105156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03020" y="2995613"/>
            <a:ext cx="20955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589020" y="2934653"/>
            <a:ext cx="892525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./gradlew check + 커버리지 게이트 — 60% 미만이면 빌드 실패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" y="3690937"/>
            <a:ext cx="16367760" cy="105156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03020" y="4056697"/>
            <a:ext cx="20955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589020" y="3995738"/>
            <a:ext cx="428019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포맷 검사 · 단위 테스트 · 빌드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" y="4752022"/>
            <a:ext cx="16367760" cy="1051560"/>
          </a:xfrm>
          <a:prstGeom prst="rect">
            <a:avLst/>
          </a:prstGeom>
          <a:solidFill>
            <a:srgbClr val="FFFE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3020" y="5117782"/>
            <a:ext cx="20955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589020" y="5056823"/>
            <a:ext cx="800926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· 백엔드 · 프론트를 러너에 전부 띄우고 브라우저 검증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" y="5813107"/>
            <a:ext cx="16367760" cy="952500"/>
          </a:xfrm>
          <a:prstGeom prst="rect">
            <a:avLst/>
          </a:prstGeom>
          <a:solidFill>
            <a:srgbClr val="EDEA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57504" y="6079807"/>
            <a:ext cx="161729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135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 다 통과해야만 ↓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60120" y="6775132"/>
            <a:ext cx="16367760" cy="1089660"/>
          </a:xfrm>
          <a:prstGeom prst="rect">
            <a:avLst/>
          </a:prstGeom>
          <a:solidFill>
            <a:srgbClr val="333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03020" y="7159943"/>
            <a:ext cx="20955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9D6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589020" y="7098982"/>
            <a:ext cx="326675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E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Azure Container Apps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2500" y="8291513"/>
            <a:ext cx="16874490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needs: [backend, frontend, e2e] </a:t>
            </a:r>
            <a:r>
              <a:rPr lang="en-US" sz="240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하나라도 실패하면 배포 잡이 아예 실행되지 않습니다. 목표는 테스트를 돌리는 것이 아니라, 배포 후에 발견하던 결함을 배포 전에 차단하는 것입니다.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025A-C669-E2CA-BA1C-CE3CD4F9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12FECD-5001-0334-3D97-850B67631682}"/>
              </a:ext>
            </a:extLst>
          </p:cNvPr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— </a:t>
            </a:r>
            <a:r>
              <a:rPr lang="ko-KR" altLang="en-US" sz="1950" kern="0" spc="351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</a:t>
            </a:r>
            <a:endParaRPr lang="en-US" sz="1950" dirty="0">
              <a:solidFill>
                <a:srgbClr val="00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9B5519-1B21-7DC5-EE98-78E3D859C57B}"/>
              </a:ext>
            </a:extLst>
          </p:cNvPr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altLang="ko-KR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TDD </a:t>
            </a:r>
            <a:r>
              <a:rPr lang="ko-KR" altLang="en-US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개발 흐름 </a:t>
            </a:r>
            <a:r>
              <a:rPr lang="en-US" altLang="ko-KR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— </a:t>
            </a:r>
            <a:r>
              <a:rPr lang="ko-KR" altLang="en-US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배포를 막는 것이 목적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556662-F547-1A22-F2DE-06D7B83641EA}"/>
              </a:ext>
            </a:extLst>
          </p:cNvPr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556E2E-004A-CB53-CE22-E8D2A7614EA7}"/>
              </a:ext>
            </a:extLst>
          </p:cNvPr>
          <p:cNvSpPr/>
          <p:nvPr/>
        </p:nvSpPr>
        <p:spPr>
          <a:xfrm>
            <a:off x="9372600" y="2730500"/>
            <a:ext cx="25400" cy="4889500"/>
          </a:xfrm>
          <a:prstGeom prst="rect">
            <a:avLst/>
          </a:prstGeom>
          <a:solidFill>
            <a:srgbClr val="DDDAC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1D986A-64B6-C3B8-E0A4-BCC0591C90C7}"/>
              </a:ext>
            </a:extLst>
          </p:cNvPr>
          <p:cNvSpPr/>
          <p:nvPr/>
        </p:nvSpPr>
        <p:spPr>
          <a:xfrm>
            <a:off x="952500" y="2730500"/>
            <a:ext cx="8089900" cy="5588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2100">
                <a:solidFill>
                  <a:srgbClr val="000000"/>
                </a:solidFill>
              </a:rPr>
              <a:t>  기능 개발  </a:t>
            </a:r>
            <a:r>
              <a:rPr lang="en-US" altLang="ko-KR" sz="2100">
                <a:solidFill>
                  <a:srgbClr val="000000"/>
                </a:solidFill>
              </a:rPr>
              <a:t>(feat:)</a:t>
            </a:r>
            <a:endParaRPr lang="ko-KR" altLang="en-US" sz="2100">
              <a:solidFill>
                <a:srgbClr val="0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6A8EE6-10EE-298B-3C06-FEE57AF73180}"/>
              </a:ext>
            </a:extLst>
          </p:cNvPr>
          <p:cNvSpPr txBox="1"/>
          <p:nvPr/>
        </p:nvSpPr>
        <p:spPr>
          <a:xfrm>
            <a:off x="952500" y="3492500"/>
            <a:ext cx="80899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① 구현 코드 작성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24466-16C2-4270-9627-51405BBBF015}"/>
              </a:ext>
            </a:extLst>
          </p:cNvPr>
          <p:cNvSpPr txBox="1"/>
          <p:nvPr/>
        </p:nvSpPr>
        <p:spPr>
          <a:xfrm>
            <a:off x="952500" y="4000500"/>
            <a:ext cx="80899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② 대응 테스트 작성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23A8BA-F0DC-BA83-4D2F-B0A4395E1BF5}"/>
              </a:ext>
            </a:extLst>
          </p:cNvPr>
          <p:cNvSpPr txBox="1"/>
          <p:nvPr/>
        </p:nvSpPr>
        <p:spPr>
          <a:xfrm>
            <a:off x="952500" y="4508500"/>
            <a:ext cx="80899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900">
                <a:solidFill>
                  <a:srgbClr val="000000"/>
                </a:solidFill>
                <a:latin typeface="JetBrains Mono"/>
              </a:rPr>
              <a:t>  ③ CI </a:t>
            </a:r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게이트 통과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306A74-9EF6-49CD-8118-8F3702FA4C30}"/>
              </a:ext>
            </a:extLst>
          </p:cNvPr>
          <p:cNvSpPr txBox="1"/>
          <p:nvPr/>
        </p:nvSpPr>
        <p:spPr>
          <a:xfrm>
            <a:off x="952500" y="5016500"/>
            <a:ext cx="80899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④ 배포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76B465-1004-B4D8-AF05-C698C11C5B06}"/>
              </a:ext>
            </a:extLst>
          </p:cNvPr>
          <p:cNvSpPr txBox="1"/>
          <p:nvPr/>
        </p:nvSpPr>
        <p:spPr>
          <a:xfrm>
            <a:off x="952500" y="5778500"/>
            <a:ext cx="80899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  → </a:t>
            </a:r>
            <a:r>
              <a:rPr lang="en-US" altLang="ko-KR" sz="1700">
                <a:solidFill>
                  <a:srgbClr val="000000"/>
                </a:solidFill>
                <a:latin typeface="JetBrains Mono"/>
              </a:rPr>
              <a:t>feat: </a:t>
            </a:r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없는 테스트 </a:t>
            </a:r>
            <a:r>
              <a:rPr lang="en-US" altLang="ko-KR" sz="1700">
                <a:solidFill>
                  <a:srgbClr val="000000"/>
                </a:solidFill>
                <a:latin typeface="JetBrains Mono"/>
              </a:rPr>
              <a:t>= </a:t>
            </a:r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미완성 판정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EDE726-9E47-8DF8-50AD-BC1DFFB6C4F5}"/>
              </a:ext>
            </a:extLst>
          </p:cNvPr>
          <p:cNvSpPr/>
          <p:nvPr/>
        </p:nvSpPr>
        <p:spPr>
          <a:xfrm>
            <a:off x="9842500" y="2730500"/>
            <a:ext cx="7493000" cy="5588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2100">
                <a:solidFill>
                  <a:srgbClr val="000000"/>
                </a:solidFill>
                <a:latin typeface="JetBrains Mono"/>
              </a:rPr>
              <a:t>  버그 수정  </a:t>
            </a:r>
            <a:r>
              <a:rPr lang="en-US" altLang="ko-KR" sz="2100">
                <a:solidFill>
                  <a:srgbClr val="000000"/>
                </a:solidFill>
                <a:latin typeface="JetBrains Mono"/>
              </a:rPr>
              <a:t>(DEF)</a:t>
            </a:r>
            <a:endParaRPr lang="ko-KR" altLang="en-US" sz="2100">
              <a:solidFill>
                <a:srgbClr val="000000"/>
              </a:solidFill>
              <a:latin typeface="JetBrains Mon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BB449C-D7E0-A455-3739-B623E9A9D5C6}"/>
              </a:ext>
            </a:extLst>
          </p:cNvPr>
          <p:cNvSpPr txBox="1"/>
          <p:nvPr/>
        </p:nvSpPr>
        <p:spPr>
          <a:xfrm>
            <a:off x="9842500" y="3492500"/>
            <a:ext cx="749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① 재현하는 실패 테스트 먼저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8C30A8-2BDD-1EF6-A79E-7D8050B03160}"/>
              </a:ext>
            </a:extLst>
          </p:cNvPr>
          <p:cNvSpPr txBox="1"/>
          <p:nvPr/>
        </p:nvSpPr>
        <p:spPr>
          <a:xfrm>
            <a:off x="9842500" y="4000500"/>
            <a:ext cx="749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② 수정 코드 작성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691DCF-6F21-4EC3-29C1-CC4EFFE1192E}"/>
              </a:ext>
            </a:extLst>
          </p:cNvPr>
          <p:cNvSpPr txBox="1"/>
          <p:nvPr/>
        </p:nvSpPr>
        <p:spPr>
          <a:xfrm>
            <a:off x="9842500" y="4508500"/>
            <a:ext cx="749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  ③ 테스트 통과 </a:t>
            </a:r>
            <a:r>
              <a:rPr lang="en-US" altLang="ko-KR" sz="1900">
                <a:solidFill>
                  <a:srgbClr val="000000"/>
                </a:solidFill>
                <a:latin typeface="JetBrains Mono"/>
              </a:rPr>
              <a:t>= </a:t>
            </a:r>
            <a:r>
              <a:rPr lang="ko-KR" altLang="en-US" sz="1900">
                <a:solidFill>
                  <a:srgbClr val="000000"/>
                </a:solidFill>
                <a:latin typeface="JetBrains Mono"/>
              </a:rPr>
              <a:t>결함 종결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CFF2F2-DC33-131A-BFFC-D2F72DBDB8E0}"/>
              </a:ext>
            </a:extLst>
          </p:cNvPr>
          <p:cNvSpPr txBox="1"/>
          <p:nvPr/>
        </p:nvSpPr>
        <p:spPr>
          <a:xfrm>
            <a:off x="9842500" y="5016500"/>
            <a:ext cx="749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ko-KR" altLang="en-US" sz="1900">
              <a:latin typeface="JetBrains Mon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564DD5-2BA0-C1B2-5728-A9F8560336A2}"/>
              </a:ext>
            </a:extLst>
          </p:cNvPr>
          <p:cNvSpPr txBox="1"/>
          <p:nvPr/>
        </p:nvSpPr>
        <p:spPr>
          <a:xfrm>
            <a:off x="9842500" y="5778500"/>
            <a:ext cx="749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  → 배포 후 재확인 불필요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5757C7-86F3-FB71-3AE3-B7E6FAF5736C}"/>
              </a:ext>
            </a:extLst>
          </p:cNvPr>
          <p:cNvSpPr/>
          <p:nvPr/>
        </p:nvSpPr>
        <p:spPr>
          <a:xfrm>
            <a:off x="952500" y="7874000"/>
            <a:ext cx="16383000" cy="7112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>
                <a:solidFill>
                  <a:srgbClr val="000000"/>
                </a:solidFill>
                <a:latin typeface="JetBrains Mono"/>
              </a:rPr>
              <a:t>  과거 </a:t>
            </a:r>
            <a:r>
              <a:rPr lang="en-US" altLang="ko-KR">
                <a:solidFill>
                  <a:srgbClr val="000000"/>
                </a:solidFill>
                <a:latin typeface="JetBrains Mono"/>
              </a:rPr>
              <a:t>DEF 16</a:t>
            </a:r>
            <a:r>
              <a:rPr lang="ko-KR" altLang="en-US">
                <a:solidFill>
                  <a:srgbClr val="000000"/>
                </a:solidFill>
                <a:latin typeface="JetBrains Mono"/>
              </a:rPr>
              <a:t>건 중 </a:t>
            </a:r>
            <a:r>
              <a:rPr lang="en-US" altLang="ko-KR">
                <a:solidFill>
                  <a:srgbClr val="000000"/>
                </a:solidFill>
                <a:latin typeface="JetBrains Mono"/>
              </a:rPr>
              <a:t>8</a:t>
            </a:r>
            <a:r>
              <a:rPr lang="ko-KR" altLang="en-US">
                <a:solidFill>
                  <a:srgbClr val="000000"/>
                </a:solidFill>
                <a:latin typeface="JetBrains Mono"/>
              </a:rPr>
              <a:t>건이 배포 후 발견 </a:t>
            </a:r>
            <a:r>
              <a:rPr lang="en-US" altLang="ko-KR">
                <a:solidFill>
                  <a:srgbClr val="000000"/>
                </a:solidFill>
                <a:latin typeface="JetBrains Mono"/>
              </a:rPr>
              <a:t>— </a:t>
            </a:r>
            <a:r>
              <a:rPr lang="ko-KR" altLang="en-US">
                <a:solidFill>
                  <a:srgbClr val="000000"/>
                </a:solidFill>
                <a:latin typeface="JetBrains Mono"/>
              </a:rPr>
              <a:t>실패 지점에 자동 검증이 없어서였다</a:t>
            </a:r>
          </a:p>
        </p:txBody>
      </p:sp>
    </p:spTree>
    <p:extLst>
      <p:ext uri="{BB962C8B-B14F-4D97-AF65-F5344CB8AC3E}">
        <p14:creationId xmlns:p14="http://schemas.microsoft.com/office/powerpoint/2010/main" val="366047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E747-73E5-FD73-11F5-0B8E603E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9B9F5C-B015-4AF6-B64A-F77A8958C871}"/>
              </a:ext>
            </a:extLst>
          </p:cNvPr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— </a:t>
            </a:r>
            <a:r>
              <a:rPr lang="ko-KR" altLang="en-US" sz="1950" kern="0" spc="351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</a:t>
            </a:r>
            <a:endParaRPr lang="en-US" sz="1950" dirty="0">
              <a:solidFill>
                <a:srgbClr val="00000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A77383-A02F-4184-9E4F-82B92D8DFE22}"/>
              </a:ext>
            </a:extLst>
          </p:cNvPr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ko-KR" altLang="en-US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주목할 만한 테스트 </a:t>
            </a:r>
            <a:r>
              <a:rPr lang="en-US" altLang="ko-KR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— </a:t>
            </a:r>
            <a:r>
              <a:rPr lang="ko-KR" altLang="en-US" sz="4800">
                <a:solidFill>
                  <a:srgbClr val="0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어떤 버그를 막는가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C5E500-CC51-9438-19C0-22344456BD69}"/>
              </a:ext>
            </a:extLst>
          </p:cNvPr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CC54BF5-E2B3-3057-8CCB-696F82BA8321}"/>
              </a:ext>
            </a:extLst>
          </p:cNvPr>
          <p:cNvSpPr/>
          <p:nvPr/>
        </p:nvSpPr>
        <p:spPr>
          <a:xfrm>
            <a:off x="952500" y="2819400"/>
            <a:ext cx="5207000" cy="22225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동시성 재고 안전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OrderConcurrencyTest
10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스레드 동시 주문 →
재고 음수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·oversell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불가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863738-D5FA-E483-8020-11A46962DF3F}"/>
              </a:ext>
            </a:extLst>
          </p:cNvPr>
          <p:cNvSpPr/>
          <p:nvPr/>
        </p:nvSpPr>
        <p:spPr>
          <a:xfrm>
            <a:off x="6540500" y="2819400"/>
            <a:ext cx="5207000" cy="22225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보안 헤더 설정 증명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SessionCookieSecurityTest
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실제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Set-Cookie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헤더 파싱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SameSite=Lax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확인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86FF46-C820-A4F5-4ADC-2FEEEC03BE55}"/>
              </a:ext>
            </a:extLst>
          </p:cNvPr>
          <p:cNvSpPr/>
          <p:nvPr/>
        </p:nvSpPr>
        <p:spPr>
          <a:xfrm>
            <a:off x="12128500" y="2819400"/>
            <a:ext cx="5207000" cy="22225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정보 유출 차단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GlobalExceptionHandlerTest
500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응답에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DB URL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이
포함 안 됨을 확인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620A8B-8DF8-AD36-5957-CF5FC82D0DD2}"/>
              </a:ext>
            </a:extLst>
          </p:cNvPr>
          <p:cNvSpPr/>
          <p:nvPr/>
        </p:nvSpPr>
        <p:spPr>
          <a:xfrm>
            <a:off x="952500" y="5334000"/>
            <a:ext cx="8001000" cy="22860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프론트 인가 증명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PrivateRoute.test.jsx
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일반 사용자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/admin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접근 시
보호 콘텐츠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DOM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에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0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자도 새지 않음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B85868-D2BA-9B32-CB17-7B7085C46636}"/>
              </a:ext>
            </a:extLst>
          </p:cNvPr>
          <p:cNvSpPr/>
          <p:nvPr/>
        </p:nvSpPr>
        <p:spPr>
          <a:xfrm>
            <a:off x="9334500" y="5334000"/>
            <a:ext cx="8001000" cy="22860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경계값 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TDD
pagination.test.js
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구현 전 테스트 먼저 작성
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DEF-9 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재현 포함</a:t>
            </a:r>
            <a:r>
              <a:rPr lang="en-US" altLang="ko-KR" sz="1500">
                <a:solidFill>
                  <a:srgbClr val="000000"/>
                </a:solidFill>
                <a:latin typeface="JetBrains Mono"/>
              </a:rPr>
              <a:t>, off-by-one 5</a:t>
            </a:r>
            <a:r>
              <a:rPr lang="ko-KR" altLang="en-US" sz="1500">
                <a:solidFill>
                  <a:srgbClr val="000000"/>
                </a:solidFill>
                <a:latin typeface="JetBrains Mono"/>
              </a:rPr>
              <a:t>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6E6D70-A013-BBF1-53FF-4789352DBA6A}"/>
              </a:ext>
            </a:extLst>
          </p:cNvPr>
          <p:cNvSpPr/>
          <p:nvPr/>
        </p:nvSpPr>
        <p:spPr>
          <a:xfrm>
            <a:off x="952500" y="7937500"/>
            <a:ext cx="16383000" cy="685800"/>
          </a:xfrm>
          <a:prstGeom prst="rect">
            <a:avLst/>
          </a:prstGeom>
          <a:solidFill>
            <a:srgbClr val="DDDACA"/>
          </a:solidFill>
          <a:ln>
            <a:solidFill>
              <a:srgbClr val="DDD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bIns="127000" rtlCol="0" anchor="ctr">
            <a:noAutofit/>
          </a:bodyPr>
          <a:lstStyle/>
          <a:p>
            <a:pPr algn="ctr"/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  설정했다 ≠ 동작한다  </a:t>
            </a:r>
            <a:r>
              <a:rPr lang="en-US" altLang="ko-KR" sz="1700">
                <a:solidFill>
                  <a:srgbClr val="000000"/>
                </a:solidFill>
                <a:latin typeface="JetBrains Mono"/>
              </a:rPr>
              <a:t>—  </a:t>
            </a:r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동시성</a:t>
            </a:r>
            <a:r>
              <a:rPr lang="en-US" altLang="ko-KR" sz="1700">
                <a:solidFill>
                  <a:srgbClr val="000000"/>
                </a:solidFill>
                <a:latin typeface="JetBrains Mono"/>
              </a:rPr>
              <a:t>·</a:t>
            </a:r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보안</a:t>
            </a:r>
            <a:r>
              <a:rPr lang="en-US" altLang="ko-KR" sz="1700">
                <a:solidFill>
                  <a:srgbClr val="000000"/>
                </a:solidFill>
                <a:latin typeface="JetBrains Mono"/>
              </a:rPr>
              <a:t>·</a:t>
            </a:r>
            <a:r>
              <a:rPr lang="ko-KR" altLang="en-US" sz="1700">
                <a:solidFill>
                  <a:srgbClr val="000000"/>
                </a:solidFill>
                <a:latin typeface="JetBrains Mono"/>
              </a:rPr>
              <a:t>정보유출 테스트는 선언이 아닌 실행으로 증명한다</a:t>
            </a:r>
          </a:p>
        </p:txBody>
      </p:sp>
    </p:spTree>
    <p:extLst>
      <p:ext uri="{BB962C8B-B14F-4D97-AF65-F5344CB8AC3E}">
        <p14:creationId xmlns:p14="http://schemas.microsoft.com/office/powerpoint/2010/main" val="1362148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— </a:t>
            </a:r>
            <a:r>
              <a:rPr lang="ko-KR" altLang="en-US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Azure 배포 — 인프라를 스크립트로 남긴다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2714625"/>
            <a:ext cx="8202335" cy="3024188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3095625"/>
            <a:ext cx="7762605" cy="2300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817"/>
              </a:lnSpc>
              <a:buNone/>
            </a:pP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azure/setup.sh — 한 파일로 전체 재생성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containerapp env create ...</a:t>
            </a:r>
            <a:endParaRPr lang="en-US" sz="1875" dirty="0"/>
          </a:p>
          <a:p>
            <a:pPr marL="0" indent="0" algn="l">
              <a:lnSpc>
                <a:spcPct val="144817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postgres flexible-server create ...</a:t>
            </a:r>
            <a:endParaRPr lang="en-US" sz="1875" dirty="0"/>
          </a:p>
          <a:p>
            <a:pPr marL="0" indent="0" algn="l">
              <a:lnSpc>
                <a:spcPct val="144817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containerapp create ...</a:t>
            </a:r>
            <a:endParaRPr lang="en-US" sz="1875" dirty="0"/>
          </a:p>
          <a:p>
            <a:pPr marL="0" indent="0" algn="l">
              <a:lnSpc>
                <a:spcPct val="144817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postgres ... firewall-rule create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6043613"/>
            <a:ext cx="8448405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포털에서 클릭으로 만들면 git에 아무것도 남지 않습니다. “어떻게 만들었더라?”를 6개월 뒤의 내가 알 수 없고, 다시 만들 수도 없습니다.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878735" y="3408045"/>
            <a:ext cx="7456765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8735" y="2905125"/>
            <a:ext cx="249364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· 과제 원문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725650" y="2905125"/>
            <a:ext cx="2870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· 실제 사용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878735" y="4215765"/>
            <a:ext cx="745676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878735" y="3606165"/>
            <a:ext cx="25354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ECS / App Runner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346442" y="3606165"/>
            <a:ext cx="218796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Container Apps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878735" y="5023485"/>
            <a:ext cx="745676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878735" y="4413885"/>
            <a:ext cx="5929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963418" y="4413885"/>
            <a:ext cx="26092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Container Registry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878735" y="5831205"/>
            <a:ext cx="745676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878735" y="5221605"/>
            <a:ext cx="2777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RDS for PostgreSQL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881259" y="5221605"/>
            <a:ext cx="37996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Flexible Server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878735" y="6638925"/>
            <a:ext cx="745676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78735" y="6029325"/>
            <a:ext cx="3948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671959" y="6029325"/>
            <a:ext cx="182989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Blob Storage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78735" y="7446645"/>
            <a:ext cx="7456765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878735" y="6837045"/>
            <a:ext cx="22284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 53 + ACM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462522" y="6837045"/>
            <a:ext cx="31602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DNS 존 + 관리형 인증서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878735" y="7701915"/>
            <a:ext cx="7680468" cy="180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38"/>
              </a:lnSpc>
              <a:buNone/>
            </a:pPr>
            <a:r>
              <a:rPr lang="en-US" sz="217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재직 중인 회사가 Azure 크레딧을 지원해, 비용 부담 없이 실습할 수 있는 환경이 Azure였습니다. 확인해야 할 학습 목표 — 컨테이너 빌드·배포, 관리형 DB, HTTPS 도메인 연결 — 는 두 클라우드에서 동일합니다.</a:t>
            </a:r>
            <a:endParaRPr lang="en-US" sz="21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— </a:t>
            </a:r>
            <a:r>
              <a:rPr lang="ko-KR" altLang="en-US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회고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실패에서 배운 것 ① 커버리지 98%가 못 잡은 버그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3898583"/>
            <a:ext cx="8001000" cy="4442460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33500" y="4317683"/>
            <a:ext cx="7479030" cy="364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2439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토스 응답   "2026-07-29T23:59:59</a:t>
            </a:r>
            <a:r>
              <a:rPr lang="en-US" sz="1875" dirty="0">
                <a:solidFill>
                  <a:srgbClr val="E0C0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+09:00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</a:t>
            </a:r>
            <a:endParaRPr lang="en-US" sz="1875" dirty="0"/>
          </a:p>
          <a:p>
            <a:pPr marL="0" indent="0" algn="l">
              <a:lnSpc>
                <a:spcPct val="152439"/>
              </a:lnSpc>
              <a:buNone/>
            </a:pP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           </a:t>
            </a:r>
            <a:endParaRPr lang="en-US" sz="1875" dirty="0"/>
          </a:p>
          <a:p>
            <a:pPr marL="0" indent="0" algn="l">
              <a:lnSpc>
                <a:spcPct val="152439"/>
              </a:lnSpc>
              <a:buNone/>
            </a:pPr>
            <a:r>
              <a:rPr lang="en-US" sz="1875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시간대 오프셋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내 코드     LocalDateTime.parse(...)    </a:t>
            </a:r>
            <a:r>
              <a:rPr lang="en-US" sz="1875" dirty="0">
                <a:solidFill>
                  <a:srgbClr val="D98E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실패 </a:t>
            </a:r>
            <a:r>
              <a:rPr lang="en-US" sz="1875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올바른 것   OffsetDateTime.parse(...)   </a:t>
            </a:r>
            <a:r>
              <a:rPr lang="en-US" sz="1875" dirty="0">
                <a:solidFill>
                  <a:srgbClr val="9BBE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정상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715500" y="3898583"/>
            <a:ext cx="7848600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92"/>
              </a:lnSpc>
              <a:buNone/>
            </a:pP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</a:t>
            </a: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MockRestServiceServer </a:t>
            </a: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제가 만든 가짜 응답을 씁니다. 가짜 응답에 오프셋을 안 넣었으니, 테스트는 영원히 통과합니다.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715500" y="5731193"/>
            <a:ext cx="7620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715500" y="6043613"/>
            <a:ext cx="78486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70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커버리지는 “내가 쓴 코드를 얼마나 실행했나”이지, “내 가정이 맞나”가 아닙니다.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15500" y="7396162"/>
            <a:ext cx="7848600" cy="98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API의 실제 응답 계약은 모킹으로 검증할 수 없습니다 — 한 번은 진짜로 붙여봐야 합니다.</a:t>
            </a:r>
            <a:endParaRPr lang="en-US" sz="23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— </a:t>
            </a:r>
            <a:r>
              <a:rPr lang="ko-KR" altLang="en-US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회고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실패에서 배운 것 ② 스키마 드리프트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3832860"/>
            <a:ext cx="7848600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992"/>
              </a:lnSpc>
              <a:buNone/>
            </a:pP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OrderStatus</a:t>
            </a: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</a:t>
            </a:r>
            <a:r>
              <a:rPr lang="en-US" sz="2100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WAITING_FOR_DEPOSIT </a:t>
            </a:r>
            <a:r>
              <a:rPr lang="en-US" sz="2550" dirty="0">
                <a:solidFill>
                  <a:srgbClr val="3333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추가했더니, 테스트는 전부 통과하는데 브라우저로 실제 주문을 넣자 INSERT가 실패했습니다.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5646420"/>
            <a:ext cx="7848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원인은 </a:t>
            </a:r>
            <a:r>
              <a:rPr lang="en-US" sz="2025" dirty="0">
                <a:solidFill>
                  <a:srgbClr val="3333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ddl-auto=update </a:t>
            </a:r>
            <a:r>
              <a:rPr lang="en-US" sz="2325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컬럼은 추가해도 기존 CHECK 제약조건은 갱신하지 않는다는 것. 테스트는 매번 새 H2로 시작하니 구조적으로 잡을 수 없습니다.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334500" y="3832860"/>
            <a:ext cx="8001000" cy="2499360"/>
          </a:xfrm>
          <a:prstGeom prst="rect">
            <a:avLst/>
          </a:prstGeom>
          <a:solidFill>
            <a:srgbClr val="3333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77400" y="4213860"/>
            <a:ext cx="7555230" cy="1775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800" dirty="0">
                <a:solidFill>
                  <a:srgbClr val="A9A9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DB에 남아 있던 옛날 제약조건 </a:t>
            </a: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(status IN ('ORDERED','PAID',</a:t>
            </a:r>
            <a:endParaRPr lang="en-US" sz="1800" dirty="0"/>
          </a:p>
          <a:p>
            <a:pPr marL="0" indent="0" algn="l">
              <a:lnSpc>
                <a:spcPct val="142500"/>
              </a:lnSpc>
              <a:buNone/>
            </a:pPr>
            <a:r>
              <a:rPr lang="en-US" sz="1800" dirty="0">
                <a:solidFill>
                  <a:srgbClr val="E5E3D3"/>
                </a:solidFill>
                <a:highlight>
                  <a:srgbClr val="33332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'SHIPPING','DELIVERED','CANCELED')) </a:t>
            </a:r>
            <a:endParaRPr lang="en-US" sz="1800" dirty="0"/>
          </a:p>
          <a:p>
            <a:pPr marL="0" indent="0" algn="l">
              <a:lnSpc>
                <a:spcPct val="142500"/>
              </a:lnSpc>
              <a:buNone/>
            </a:pPr>
            <a:r>
              <a:rPr lang="en-US" sz="1800" dirty="0">
                <a:solidFill>
                  <a:srgbClr val="D98E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WAITING_FOR_DEPOSIT이 없어 INSERT 거부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34500" y="6637020"/>
            <a:ext cx="8001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334500" y="6949440"/>
            <a:ext cx="824103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508"/>
              </a:lnSpc>
              <a:buNone/>
            </a:pPr>
            <a:r>
              <a:rPr lang="en-US" sz="2550" dirty="0">
                <a:solidFill>
                  <a:srgbClr val="75775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ddl-auto=update는 개발 편의 기능이지 마이그레이션 도구가 아닙니다. Flyway가 왜 필요한지를 문서가 아니라 장애로 배웠습니다.</a:t>
            </a:r>
            <a:endParaRPr lang="en-US" sz="2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— </a:t>
            </a:r>
            <a:r>
              <a:rPr lang="ko-KR" altLang="en-US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회고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AI와 함께한 개발, 그리고 기초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00" y="4001452"/>
            <a:ext cx="163830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3315653"/>
            <a:ext cx="6477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81200" y="3170872"/>
            <a:ext cx="356235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주도 개발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5676900" y="3239453"/>
            <a:ext cx="120083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전 과정을 AI를 중심으로 진행했습니다.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398451"/>
            <a:ext cx="163830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2500" y="4712653"/>
            <a:ext cx="6477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81200" y="4567871"/>
            <a:ext cx="356235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상위 모델 검증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676900" y="4636453"/>
            <a:ext cx="120083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관점에서 제가 인지하지 못한 부분을 상위 모델로 다시 확인했습니다.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6795453"/>
            <a:ext cx="163830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2500" y="6109653"/>
            <a:ext cx="6477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981200" y="5964873"/>
            <a:ext cx="356235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기초의 중요성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676900" y="6033453"/>
            <a:ext cx="120083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과정에서 기초가 왜 중요한지 다시 확인하게 되었습니다.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8192453"/>
            <a:ext cx="16383000" cy="9525"/>
          </a:xfrm>
          <a:prstGeom prst="rect">
            <a:avLst/>
          </a:prstGeom>
          <a:solidFill>
            <a:srgbClr val="EBE8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2500" y="7506653"/>
            <a:ext cx="6477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981200" y="7361873"/>
            <a:ext cx="356235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일부러 택한 속도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5676900" y="7430453"/>
            <a:ext cx="120083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방법을 알면서도 쓰지 않고, 완성되는 과정에서 학습 키워드를 잡았습니다.</a:t>
            </a:r>
            <a:endParaRPr lang="en-US" sz="2250" dirty="0"/>
          </a:p>
        </p:txBody>
      </p:sp>
      <p:sp>
        <p:nvSpPr>
          <p:cNvPr id="21" name="Text 21"/>
          <p:cNvSpPr/>
          <p:nvPr/>
        </p:nvSpPr>
        <p:spPr>
          <a:xfrm>
            <a:off x="952500" y="8903653"/>
            <a:ext cx="6477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2"/>
          <p:cNvSpPr/>
          <p:nvPr/>
        </p:nvSpPr>
        <p:spPr>
          <a:xfrm>
            <a:off x="1981200" y="8758873"/>
            <a:ext cx="356235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남은 과제</a:t>
            </a:r>
            <a:endParaRPr lang="en-US" sz="2850" dirty="0"/>
          </a:p>
        </p:txBody>
      </p:sp>
      <p:sp>
        <p:nvSpPr>
          <p:cNvPr id="23" name="Text 23"/>
          <p:cNvSpPr/>
          <p:nvPr/>
        </p:nvSpPr>
        <p:spPr>
          <a:xfrm>
            <a:off x="5676900" y="8827453"/>
            <a:ext cx="1200835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이게 맞는지 판단하는 힘을 키우는 것이 지금의 학습 방향입니다.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464040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— </a:t>
            </a:r>
            <a:r>
              <a:rPr lang="ko-KR" altLang="en-US" sz="1950" kern="0" spc="351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회고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0660"/>
            <a:ext cx="180213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8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프로젝트에서 남은 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2200"/>
            <a:ext cx="16383000" cy="9525"/>
          </a:xfrm>
          <a:prstGeom prst="rect">
            <a:avLst/>
          </a:prstGeom>
          <a:solidFill>
            <a:srgbClr val="DDD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2500" y="4073366"/>
            <a:ext cx="55600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648676"/>
            <a:ext cx="520619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87"/>
              </a:lnSpc>
              <a:buNone/>
            </a:pPr>
            <a:r>
              <a:rPr lang="en-US" sz="33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이걸 골랐나를 말할 수 있게 됐다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6027897"/>
            <a:ext cx="5206197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낙관적 락 vs 비관적 락, 세션 vs JWT, 웹훅 vs 폴링 — 전부 정답이 아니라 트레이드오프였고, 제약을 근거로 골랐습니다.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16661" y="4073366"/>
            <a:ext cx="55600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16661" y="4648676"/>
            <a:ext cx="520619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87"/>
              </a:lnSpc>
              <a:buNone/>
            </a:pPr>
            <a:r>
              <a:rPr lang="en-US" sz="33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테스트는 도장이 아니라 설계 피드백이다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16661" y="6027897"/>
            <a:ext cx="5206197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테스트하기 어려운 코드는 대개 분리가 덜 된 코드였습니다. 그래서 결제 연동을 인터페이스로 떼어냈습니다.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280821" y="4073366"/>
            <a:ext cx="556001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80821" y="4648676"/>
            <a:ext cx="520619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987"/>
              </a:lnSpc>
              <a:buNone/>
            </a:pPr>
            <a:r>
              <a:rPr lang="en-US" sz="3300" dirty="0">
                <a:solidFill>
                  <a:srgbClr val="3333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재현되지 않으면 존재하지 않는다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280821" y="6027897"/>
            <a:ext cx="520619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6D6C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인프라도, 데이터도, 배포도 전부 코드로 남겨야 6개월 뒤의 내가 쓸 수 있습니다.</a:t>
            </a:r>
            <a:endParaRPr lang="en-US" sz="2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3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7577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감사합니다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456622"/>
            <a:ext cx="1802130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67"/>
              </a:lnSpc>
              <a:buNone/>
            </a:pPr>
            <a:r>
              <a:rPr lang="en-US" sz="8100" dirty="0">
                <a:solidFill>
                  <a:srgbClr val="FFFEF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MINS Farmers Market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52500" y="4841558"/>
            <a:ext cx="18021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C9C7B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 상시 운영 중입니다 — 라이브 데모로 넘어갑니다.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7589520"/>
            <a:ext cx="16383000" cy="9525"/>
          </a:xfrm>
          <a:prstGeom prst="rect">
            <a:avLst/>
          </a:prstGeom>
          <a:solidFill>
            <a:srgbClr val="5A5A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52500" y="801624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8E8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주소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8492490"/>
            <a:ext cx="561594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6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www.minsdev.works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91300" y="801624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8E8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코드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591300" y="8492490"/>
            <a:ext cx="5258562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github.com/johnjoseph1990/ KDT-ShoppingMallProject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230100" y="8016240"/>
            <a:ext cx="56159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225" dirty="0">
                <a:solidFill>
                  <a:srgbClr val="8E8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계정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230100" y="8492490"/>
            <a:ext cx="5258562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88"/>
              </a:lnSpc>
              <a:buNone/>
            </a:pPr>
            <a:r>
              <a:rPr lang="en-US" sz="1950" dirty="0">
                <a:solidFill>
                  <a:srgbClr val="E5E3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admin@shop.com / admin1234 test@shop.com / test1234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EF0FACF-05CA-4A25-B408-A2DF7BF6588E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7c8e59a9-3eca-43be-9a99-9d0584569a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3804</Words>
  <Application>Microsoft Office PowerPoint</Application>
  <PresentationFormat>사용자 지정</PresentationFormat>
  <Paragraphs>541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JetBrains Mono</vt:lpstr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사무처 최민영 요한요셉</cp:lastModifiedBy>
  <cp:revision>11</cp:revision>
  <dcterms:created xsi:type="dcterms:W3CDTF">2026-08-09T07:22:52Z</dcterms:created>
  <dcterms:modified xsi:type="dcterms:W3CDTF">2026-08-11T04:14:06Z</dcterms:modified>
</cp:coreProperties>
</file>